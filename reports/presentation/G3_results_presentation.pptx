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the group and the question. Everything on these slides is generated from the pipeline outputs; the full report is reports/final_group_research_report.md.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prompt and the scales follow the class protocol. The ratings are the participants' own; the word is chosen by them, which later turns out to matter (lexical confound).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protocol asks for at least 40 valid observations; we have 40. Nothing was imputed or invented: missing recordings and words stay missing.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design choices that make the numbers trustworthy: grouping by participant, all preprocessing inside the cross-validation, permutation tests of the whole procedure, and correction for multiple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Derived targets: arousal_3 = low (1-2) / moderate (3) / high (4-5); valence_2 = not pleasant (1-3) / pleasant (4-5). A task is modelled only if every class has at least 5 participants.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Spearman correlations, Benjamini-Hochberg FDR across all features. The power statement uses the Fisher z approximation with the Spearman variance factor (Fieller et al., 1957).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permutation test repeats the whole nested procedure with shuffled labels. Holm controls the family-wise error across all learned models and tasks.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Dots are pooled balanced accuracy; bars are participant-level bootstrap intervals; the vertical line in each panel is chance for that task.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why the word must be controlled in future collections: a fixed word for everyone, or enough repetitions of each word to analyse within words.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limits are documented in the final report, with the exact numbers and the sensitivity analyses.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 plainly: a negative or inconclusive result from a careful analysis is a valid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step has a ready-made file in the repository; RUNNING.md explains how to rerun everything after.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1C1C1A"/>
                </a:solidFill>
                <a:latin typeface="Calibri"/>
              </a:rPr>
              <a:t>Bisaya post-class speech and self-reported affect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246120"/>
            <a:ext cx="11094415" cy="8229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2200" b="0">
                <a:solidFill>
                  <a:srgbClr val="5A5A55"/>
                </a:solidFill>
                <a:latin typeface="Calibri"/>
              </a:rPr>
              <a:t>Can one spoken word, said right after class, tell us how a student feels?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754880"/>
            <a:ext cx="11094415" cy="8229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CS412 mini-project · Group 3 · second-year Computer Science students · results of 2026-10-04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The question and how we asked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Protocol of the class mini-project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6766560" cy="43891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Right after class, each participant said one Bisaya word that matched their reaction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600" b="0">
                <a:solidFill>
                  <a:srgbClr val="1C1C1A"/>
                </a:solidFill>
                <a:latin typeface="Calibri"/>
              </a:rPr>
              <a:t>Suggested words: Salamat, Ambot, Grabe, Lisod, Sayon, Lingaw, Kapoy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They then rated how they felt on two 1–5 scales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600" b="0">
                <a:solidFill>
                  <a:srgbClr val="1C1C1A"/>
                </a:solidFill>
                <a:latin typeface="Calibri"/>
              </a:rPr>
              <a:t>Valence: very unpleasant (1) to very pleasant (5)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600" b="0">
                <a:solidFill>
                  <a:srgbClr val="1C1C1A"/>
                </a:solidFill>
                <a:latin typeface="Calibri"/>
              </a:rPr>
              <a:t>Arousal: very low (1) to very high (5)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Research question: do acoustic features of that word carry information about the ratings?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800" b="0">
                <a:solidFill>
                  <a:srgbClr val="1C1C1A"/>
                </a:solidFill>
                <a:latin typeface="Calibri"/>
              </a:rPr>
              <a:t>Speaker-independent: the system is always tested on people it has never heard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680960" y="1783080"/>
            <a:ext cx="3931920" cy="128016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863840" y="1947672"/>
            <a:ext cx="137160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2167128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word per participant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3246120"/>
            <a:ext cx="3931920" cy="128016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3410712"/>
            <a:ext cx="137160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3630168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self-rated scales (1–5)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4709160"/>
            <a:ext cx="3931920" cy="128016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0" y="4873752"/>
            <a:ext cx="1371600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108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0" y="5093208"/>
            <a:ext cx="2377440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acoustic features per recording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The data we actually had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From the group's sheet and recordings to the analysis 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participants in the sheet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9393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6553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6553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with a recording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0147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7307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7307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analysed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40901" y="1783080"/>
            <a:ext cx="2602153" cy="1417320"/>
          </a:xfrm>
          <a:prstGeom prst="roundRect">
            <a:avLst>
              <a:gd name="adj" fmla="val 8000"/>
            </a:avLst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78061" y="1892807"/>
            <a:ext cx="2327833" cy="7315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4000" b="1">
                <a:solidFill>
                  <a:srgbClr val="2563C9"/>
                </a:solidFill>
                <a:latin typeface="Calibri"/>
              </a:rPr>
              <a:t>40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78061" y="2624328"/>
            <a:ext cx="2327833" cy="54864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C1C1A"/>
                </a:solidFill>
                <a:latin typeface="Calibri"/>
              </a:rPr>
              <a:t>required by the protocol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3520440"/>
            <a:ext cx="11094415" cy="2743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By the group's decision the analysis uses the CS2B_v2_wav_16k delivery: trimmed 16 kHz copies, one per participant; the original recordings are archived, not analysed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500" b="0">
                <a:solidFill>
                  <a:srgbClr val="1C1C1A"/>
                </a:solidFill>
                <a:latin typeface="Calibri"/>
              </a:rPr>
              <a:t>9 files have no verified original and 3 are edited or clipped; sensitivity analyses exclude them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9 spoken words are missing from the sheet; the word is never guessed from the feeling text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Background voices in 16 of 40 selected recordings; 5 are copies of recordings that used a different recording setting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Consent: the sheet says Yes, but the signed-form log is still to be supplied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How the pipeline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One command runs every step; each step writes its own report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1. Audit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every file and sheet cell checked; nothing changed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086785" y="224485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425113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4841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2. Clean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34841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logged, rule-based fixes; raw values kept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63259" y="224485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01587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1315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3. Audio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1315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WAV 16 kHz mono; label-blind word location and take choice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39733" y="224485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78061" y="178308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87789" y="1874519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4. Features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7789" y="224028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108 acoustic features: pitch, energy, spectrum, MFCC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5. Explore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distributions, correlations, confound checks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3086785" y="389077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425113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34841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6. Models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4841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nested speaker-grouped CV, 10 repeats; dummy baselines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5963259" y="389077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01587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1315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7. Test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11315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permutation tests, Holm correction, bootstrap CIs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8839733" y="3890772"/>
            <a:ext cx="265176" cy="219456"/>
          </a:xfrm>
          <a:prstGeom prst="rightArrow">
            <a:avLst/>
          </a:prstGeom>
          <a:solidFill>
            <a:srgbClr val="2563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178061" y="3429000"/>
            <a:ext cx="2464993" cy="1143000"/>
          </a:xfrm>
          <a:prstGeom prst="roundRect">
            <a:avLst>
              <a:gd name="adj" fmla="val 12000"/>
            </a:avLst>
          </a:prstGeom>
          <a:solidFill>
            <a:srgbClr val="F1F4FA"/>
          </a:solidFill>
          <a:ln>
            <a:solidFill>
              <a:srgbClr val="E2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87789" y="3520440"/>
            <a:ext cx="2245537" cy="3657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1C1C1A"/>
                </a:solidFill>
                <a:latin typeface="Calibri"/>
              </a:rPr>
              <a:t>8. Lexical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7789" y="3886200"/>
            <a:ext cx="2245537" cy="640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>
                <a:solidFill>
                  <a:srgbClr val="5A5A55"/>
                </a:solidFill>
                <a:latin typeface="Calibri"/>
              </a:rPr>
              <a:t>is it the voice, or just the word?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257800"/>
            <a:ext cx="11094415" cy="9144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5A5A55"/>
                </a:solidFill>
                <a:latin typeface="Calibri"/>
              </a:rPr>
              <a:t>Safeguards: no participant in both training and test data · preprocessing fitted inside each training fold · the labels are never used to cut or choose audio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What the participants reported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Valence and arousal move together (Spearman ρ = 0.71, n = 39)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01_affect_distribut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6949440" cy="31724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783080"/>
            <a:ext cx="3886200" cy="43891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600" b="0">
                <a:solidFill>
                  <a:srgbClr val="1C1C1A"/>
                </a:solidFill>
                <a:latin typeface="Calibri"/>
              </a:rPr>
              <a:t>Most ratings are neutral to pleasant and moderate to high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600" b="0">
                <a:solidFill>
                  <a:srgbClr val="1C1C1A"/>
                </a:solidFill>
                <a:latin typeface="Calibri"/>
              </a:rPr>
              <a:t>Classes for modelling are groupings of the participants' own ratings (derived, fixed in advance):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400" b="0">
                <a:solidFill>
                  <a:srgbClr val="1C1C1A"/>
                </a:solidFill>
                <a:latin typeface="Calibri"/>
              </a:rPr>
              <a:t>arousal_3, valence_2, arousal_2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600" b="0">
                <a:solidFill>
                  <a:srgbClr val="1C1C1A"/>
                </a:solidFill>
                <a:latin typeface="Calibri"/>
              </a:rPr>
              <a:t>Not modelled, too few people per class: valence_5, arousal_5, valence_3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Acoustic features and the ratings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Six prosodic features chosen in advance; 108 features in total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6675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1325880"/>
                <a:gridCol w="914400"/>
                <a:gridCol w="1417320"/>
                <a:gridCol w="914400"/>
              </a:tblGrid>
              <a:tr h="384048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ρ with arousal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ρ with valence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 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F0 median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0.945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0.972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F0 range (st)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+0.21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0.198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+0.08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0.617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RMS level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0.237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0.105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0.436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+0.10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0.523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Spectral centroid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0.115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0.391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Voiced ratio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-0.03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0.859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+0.03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C1C1A"/>
                          </a:solidFill>
                          <a:latin typeface="Calibri"/>
                        </a:rPr>
                        <a:t>0.861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589520" y="1783080"/>
            <a:ext cx="4069080" cy="4480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None of the six passes FDR correction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Across all 108 features: 0 pass for arousal, 0 for valence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500" b="0">
                <a:solidFill>
                  <a:srgbClr val="1C1C1A"/>
                </a:solidFill>
                <a:latin typeface="Calibri"/>
              </a:rPr>
              <a:t>With n = 40, only correlations of about |ρ| ≥ 0.44 can be detected reliably (80% power)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Speaker-independent classification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Balanced accuracy pooled over repeated nested cross-validation; chance = dummy baselines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783080"/>
          <a:ext cx="1109167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011680"/>
                <a:gridCol w="2743200"/>
                <a:gridCol w="1737360"/>
                <a:gridCol w="1554480"/>
                <a:gridCol w="1581912"/>
              </a:tblGrid>
              <a:tr h="45720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Best model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Balanced accuracy [95% CI]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Majority baseline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Permutation p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Holm p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arousal_3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0.48 [0.35, 0.62]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0.022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0.198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valence_2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0.59 [0.47, 0.71]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0.120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0.958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arousal_2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0.56 [0.43, 0.69]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0.190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1094415" cy="2194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No model survives Holm correction across the 9 permutation tests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1 of 9 raw p-values are below 0.05; about 0.45 would be expected by chance alone, so a few raw hits are not evidence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The confidence intervals are wide and overlap the baselines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Model results against chance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Balanced accuracy with 95% bootstrap intervals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_eval_balanced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91640"/>
            <a:ext cx="11094415" cy="318248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Is it the voice, or just the word?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The lexical confound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6309360" cy="43891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The audio alone tells 'Kapoy' apart from the other words: balanced accuracy 0.85 (chance 0.50, permutation p = 0.002)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And the word goes with the feeling: see the table (Fisher p = 0.006, Cramér's V = 0.53)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So a model can score above chance by recognising which word was said, without hearing any emotion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700" b="0">
                <a:solidFill>
                  <a:srgbClr val="1C1C1A"/>
                </a:solidFill>
                <a:latin typeface="Calibri"/>
              </a:rPr>
              <a:t>Within Kapoy alone, 0 of 12 feature–rating correlations pass 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69480" y="1783080"/>
            <a:ext cx="4389120" cy="4114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A5A55"/>
                </a:solidFill>
                <a:latin typeface="Calibri"/>
              </a:rPr>
              <a:t>Self-reported valence by spoken word (participants)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269480" y="2240280"/>
          <a:ext cx="438912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502920"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Word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Not pleasant (1–3)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Pleasant (4–5)</a:t>
                      </a:r>
                    </a:p>
                  </a:txBody>
                  <a:tcPr>
                    <a:solidFill>
                      <a:srgbClr val="2563C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Kapoy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other words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>
                          <a:solidFill>
                            <a:srgbClr val="1C1C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1F4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Other confounds and limits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87552"/>
            <a:ext cx="11094415" cy="4572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5A5A55"/>
                </a:solidFill>
                <a:latin typeface="Calibri"/>
              </a:rPr>
              <a:t>Why the results are preliminary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094415" cy="4480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Sample: 40 participants analysed, meeting the protocol minimum of 40</a:t>
            </a:r>
          </a:p>
          <a:p>
            <a:pPr algn="l" marL="594360" indent="-274320">
              <a:spcAft>
                <a:spcPts val="600"/>
              </a:spcAft>
              <a:buChar char="–"/>
            </a:pPr>
            <a:r>
              <a:rPr sz="1700" b="0">
                <a:solidFill>
                  <a:srgbClr val="1C1C1A"/>
                </a:solidFill>
                <a:latin typeface="Calibri"/>
              </a:rPr>
              <a:t>Power: with n = 40, only correlations of about |ρ| ≥ 0.44 are reliably detectable; a moderate ρ = 0.3 needs about 90 participants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Audio: trimmed copies, not the original recordings; 9 without a verified original, 3 edited or clipped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Recording setting: 5 files are copies of recordings that used a different setting, which shows no significant feature difference in this analysis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Noise: background voices in 16 of 40 recordings, captured in a hallway right after class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One word per person: no way to separate a person's voice from their state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Context cannot be compared: one year level, one class activity, one session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1900" b="0">
                <a:solidFill>
                  <a:srgbClr val="1C1C1A"/>
                </a:solidFill>
                <a:latin typeface="Calibri"/>
              </a:rPr>
              <a:t>Correlational design with self-reports: no causal 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Conclusion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1094415" cy="12801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2563C9"/>
                </a:solidFill>
                <a:latin typeface="Calibri"/>
              </a:rPr>
              <a:t>The data do not support a claim that post-class affect can be recognised from speech.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00400"/>
            <a:ext cx="11094415" cy="292608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The pipeline is complete, reproducible and validated, so a larger dataset can be analysed with one command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The word a participant chooses is itself linked to how they feel, and must be controlled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The present sample is too small to detect realistic effects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1094415" cy="68580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11094415" cy="18288"/>
          </a:xfrm>
          <a:prstGeom prst="rect">
            <a:avLst/>
          </a:prstGeom>
          <a:solidFill>
            <a:srgbClr val="E2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83080"/>
            <a:ext cx="11094415" cy="448056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Document consent from the signed forms (consent/consent_log.csv)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Blind listening review by two group members: words, boundaries, retakes (data/review/listening_review.html)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Find the original recordings behind the copies without a verified original (reports/supplied_audio_audit.md)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Collect more participants with the checklist: audio only, one setting, quiet spot, one take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Pre-registered analysis plan for a larger or pooled study (docs/analysis_plan_pooled_study.md)</a:t>
            </a:r>
          </a:p>
          <a:p>
            <a:pPr algn="l" marL="274320" indent="-274320">
              <a:spcAft>
                <a:spcPts val="600"/>
              </a:spcAft>
              <a:buChar char="•"/>
            </a:pPr>
            <a:r>
              <a:rPr sz="2000" b="0">
                <a:solidFill>
                  <a:srgbClr val="1C1C1A"/>
                </a:solidFill>
                <a:latin typeface="Calibri"/>
              </a:rPr>
              <a:t>Confirm open protocol questions with the instructor (docs/next_steps/)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86868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Group 3 · CS412 mini-project · generated from the pipeline outputs (src/09c_build_presentation.py)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anchor="t" lIns="36576" rIns="36576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5A5A55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