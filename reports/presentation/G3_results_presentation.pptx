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We are Group 3. Our project asks one simple question: can a single spoken word, said right after class, tell us how a student feels?</a:t>
            </a:r>
          </a:p>
          <a:p/>
          <a:p>
            <a:r>
              <a:t>We studied second-year Computer Science students. We will show what we collected, how we analysed it, what we found, and what we could not show.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after class, each participant said one Bisaya word that matched their reaction, for example Kapoy, Salamat or Lingaw. Then they rated how they felt on two scales from 1 to 5.</a:t>
            </a:r>
          </a:p>
          <a:p/>
          <a:p>
            <a:r>
              <a:t>Valence is how pleasant the feeling is. Arousal is how much energy it has: calm or tired at the low end, excited or tense at the high end.</a:t>
            </a:r>
          </a:p>
          <a:p/>
          <a:p>
            <a:r>
              <a:t>Our question: can the sound of the word, not its meaning, tell us those ratings? From each recording the computer took 108 voice measurements.</a:t>
            </a:r>
          </a:p>
          <a:p/>
          <a:p>
            <a:r>
              <a:t>And we made the test strict. The computer is always tested on people it has never heard, because a real system would meet new students.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sheet lists 40 participants and we analysed all 40, which meets the protocol minimum of 40.</a:t>
            </a:r>
          </a:p>
          <a:p/>
          <a:p>
            <a:r>
              <a:t>We want to be open about the audio. We recorded phone videos, and a group member converted them to short 16 kHz WAV files. Those files are what we analysed. We checked every file against the original recordings. 31 match an original. 9 could not be checked, and 3 of those show signs of editing, such as stretches of exact silence. We kept them, marked them, and ran the models again without them. You will see that result later.</a:t>
            </a:r>
          </a:p>
          <a:p/>
          <a:p>
            <a:r>
              <a:t>Every participant has a spoken word in the sheet. No word was guessed from the feeling text.</a:t>
            </a:r>
          </a:p>
          <a:p/>
          <a:p>
            <a:r>
              <a:t>The group completed the sheet on 12 October: 9 blank words were filled in by a group member who listened to each recording, and the ratings of 3 participants were corrected from the participants' answer forms, because the first sheet had typing mistakes. The results we show use the completed sheet. The earlier sheet and its results are kept, so the two can be compared.</a:t>
            </a:r>
          </a:p>
          <a:p/>
          <a:p>
            <a:r>
              <a:t>The recordings were made in a hallway right after class, so they are noisy: we detected background voices in 16 of 40.</a:t>
            </a:r>
          </a:p>
          <a:p/>
          <a:p>
            <a:r>
              <a:t>And consent: the sheet says Yes for everyone, but the log of the signed forms still has to be completed.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with one command, in eight steps.</a:t>
            </a:r>
          </a:p>
          <a:p/>
          <a:p>
            <a:r>
              <a:t>Check: every file and every sheet cell is checked, and nothing is changed. Clean: fixes are made by fixed rules only, and each fix is logged. Find the word: the computer finds the spoken word inside each clip without ever seeing the ratings. Measure: 108 numbers for each voice.</a:t>
            </a:r>
          </a:p>
          <a:p/>
          <a:p>
            <a:r>
              <a:t>Then we explore the data, train the models, test whether the scores are better than luck, and run the word check, which asks whether the model hears the feeling or only the word.</a:t>
            </a:r>
          </a:p>
          <a:p/>
          <a:p>
            <a:r>
              <a:t>The three rules at the bottom keep the test fair. No participant is in both the training and the test data. The model's settings are learned from the training data only. And the ratings are never used to cut or choose audio.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participants reported neutral to pleasant feelings and moderate to high energy. The two ratings rise together: the correlation is 0.72.</a:t>
            </a:r>
          </a:p>
          <a:p/>
          <a:p>
            <a:r>
              <a:t>Some scores were chosen by very few people, so we cannot model all five scores. We grouped them, and we fixed the groups before modelling: arousal into low, moderate and high; valence into pleasant and not pleasant; and arousal into high and not high.</a:t>
            </a:r>
          </a:p>
          <a:p/>
          <a:p>
            <a:r>
              <a:t>We modelled a grouping only if every group has at least five people.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machine learning, we checked simple links. We chose six well-known voice features in advance: pitch level, pitch range, loudness, duration, brightness and the share of voiced sound.</a:t>
            </a:r>
          </a:p>
          <a:p/>
          <a:p>
            <a:r>
              <a:t>None of them is significantly linked to the ratings. The strongest are brightness (spectral centroid) with arousal at +0.35 and loudness (RMS) with valence at +0.37. Those are weak.</a:t>
            </a:r>
          </a:p>
          <a:p/>
          <a:p>
            <a:r>
              <a:t>Across all 108 features, 0 pass the correction for testing many features at once for arousal, and 1 for valence.</a:t>
            </a:r>
          </a:p>
          <a:p/>
          <a:p>
            <a:r>
              <a:t>With 40 people, only links of about 0.44 or stronger can be found reliably. A moderate link of 0.3 would need about 90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results, five ideas.</a:t>
            </a:r>
          </a:p>
          <a:p/>
          <a:p>
            <a:r>
              <a:t>Chance is the score you get by pure guessing: 0.33 with 3 groups, 0.50 with 2 groups.</a:t>
            </a:r>
          </a:p>
          <a:p/>
          <a:p>
            <a:r>
              <a:t>Balanced accuracy is the average of the scores for each group. A model cannot look good by always giving the most common answer.</a:t>
            </a:r>
          </a:p>
          <a:p/>
          <a:p>
            <a:r>
              <a:t>The 95% interval is the range where the true score probably lies. Ours are wide, because 40 people is few.</a:t>
            </a:r>
          </a:p>
          <a:p/>
          <a:p>
            <a:r>
              <a:t>The p-value tells us how often shuffled ratings, which mean nothing, score as high as the real ones. A small p-value means the score is unlikely to be luck.</a:t>
            </a:r>
          </a:p>
          <a:p/>
          <a:p>
            <a:r>
              <a:t>And the correction. We ran 9 tests, and with 9 tries a lucky result is expected. The Holm correction accounts for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main test. For each target we show the best of three models.</a:t>
            </a:r>
          </a:p>
          <a:p/>
          <a:p>
            <a:r>
              <a:t>The random forest was best for every target: 0.41 for three-level arousal (low, moderate, high), where chance is 0.33; 0.70 for valence (pleasant vs not pleasant), where chance is 0.50; 0.55 for two-level arousal (high vs not high), where chance is 0.50.</a:t>
            </a:r>
          </a:p>
          <a:p/>
          <a:p>
            <a:r>
              <a:t>Is that better than luck? We shuffled the ratings 500 times and ran the whole procedure again each time. 1 of 9 tests has a p-value below 0.05: the smallest is 0.006, for the random forest on valence (pleasant vs not pleasant).</a:t>
            </a:r>
          </a:p>
          <a:p/>
          <a:p>
            <a:r>
              <a:t>But we ran 9 tests. With 9 tries, about 0.45 lucky results are expected. After the Holm correction that p-value becomes 0.054, which is not significant. So no model stays significant after the correction.</a:t>
            </a:r>
          </a:p>
          <a:p/>
          <a:p>
            <a:r>
              <a:t>That is close to 0.05, and we say so. But the limit was fixed before we looked at the results, and this score rests on files we could not check: without them it is 0.63.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the same result as a picture, with one panel for each target. Each dot is a model's balanced accuracy. The horizontal bar is its 95% interval. The vertical line is chance.</a:t>
            </a:r>
          </a:p>
          <a:p/>
          <a:p>
            <a:r>
              <a:t>The grey rows are baselines that never listen to the audio. The blue rows are our models.</a:t>
            </a:r>
          </a:p>
          <a:p/>
          <a:p>
            <a:r>
              <a:t>The bars are wide. 6 of the 9 blue bars cross the chance line. 3 bars clear it, but none of those results passes the correction. This is what an inconclusive result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most important finding. Is the model hearing the feeling, or only recognising the word?</a:t>
            </a:r>
          </a:p>
          <a:p/>
          <a:p>
            <a:r>
              <a:t>First test: can the computer tell Kapoy from the other words by sound alone? Only weakly. Balanced accuracy 0.69, with p = 0.072, which is not significant.</a:t>
            </a:r>
          </a:p>
          <a:p/>
          <a:p>
            <a:r>
              <a:t>Second test: is the word linked to the feeling? Yes. Of 15 Kapoy speakers, 13 felt not pleasant. Of 25 speakers of other words, 7 did.</a:t>
            </a:r>
          </a:p>
          <a:p/>
          <a:p>
            <a:r>
              <a:t>So the word and the feeling go together. A model that picks up the word even partly could score above chance without hearing the feeling, and with this data we cannot separate the two.</a:t>
            </a:r>
          </a:p>
          <a:p/>
          <a:p>
            <a:r>
              <a:t>When we look at Kapoy speakers alone, the same word with different feelings, 0 of 12 links between voice and rating are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clear about the limits. The sample is small. With 40 people only strong links can be found.</a:t>
            </a:r>
          </a:p>
          <a:p/>
          <a:p>
            <a:r>
              <a:t>The audio is converted copies, not the original recordings: 9 could not be checked and 3 show signs of editing.</a:t>
            </a:r>
          </a:p>
          <a:p/>
          <a:p>
            <a:r>
              <a:t>The recordings are noisy: we detected background voices in 16 of 40, in a hallway right after class. And 5 files come from recordings made with a different audio setting. Some features look different for those files, but with so few files the difference does not pass the correction. We also ran the models without them.</a:t>
            </a:r>
          </a:p>
          <a:p/>
          <a:p>
            <a:r>
              <a:t>Each person said only one word, so we cannot separate a person's normal voice from their feeling at that moment.</a:t>
            </a:r>
          </a:p>
          <a:p/>
          <a:p>
            <a:r>
              <a:t>Everyone came from the same year level, class activity and session, so we cannot compare contexts. And we measured links, not causes.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conclusion: our data do not show that post-class feelings can be recognised from the voice.</a:t>
            </a:r>
          </a:p>
          <a:p/>
          <a:p>
            <a:r>
              <a:t>That is a real result, not a failure. A careful analysis that finds no reliable signal is more useful than an impressive number that would not hold up.</a:t>
            </a:r>
          </a:p>
          <a:p/>
          <a:p>
            <a:r>
              <a:t>We contribute three things. A complete, tested pipeline that repeats the whole analysis with one command. The finding that the chosen word is linked to the feeling and must be controlled. And a clear statement of how much data a real study needs: about 90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next steps are concrete. Complete the consent log from the signed forms. Have two group members listen to every clip without seeing the ratings. Find the original recordings for the files we could not check. Record more participants with one device, one setting and one take. Follow the analysis plan we wrote before seeing new data. And confirm the open protocol questions with our instructor.</a:t>
            </a:r>
          </a:p>
          <a:p/>
          <a:p>
            <a:r>
              <a:t>Thank you. We are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1280160"/>
          </a:xfrm>
          <a:prstGeom prst="rect">
            <a:avLst/>
          </a:prstGeom>
          <a:noFill/>
        </p:spPr>
        <p:txBody>
          <a:bodyPr wrap="square" anchor="t" lIns="36576" rIns="36576">
            <a:spAutoFit/>
          </a:bodyPr>
          <a:lstStyle/>
          <a:p>
            <a:pPr algn="l">
              <a:spcAft>
                <a:spcPts val="800"/>
              </a:spcAft>
            </a:pPr>
            <a:r>
              <a:rPr sz="4000" b="1">
                <a:solidFill>
                  <a:srgbClr val="1C1C1A"/>
                </a:solidFill>
                <a:latin typeface="Calibri"/>
              </a:rPr>
              <a:t>Bisaya post-class speech and self-reported affect</a:t>
            </a:r>
          </a:p>
        </p:txBody>
      </p:sp>
      <p:sp>
        <p:nvSpPr>
          <p:cNvPr id="3" name="TextBox 2"/>
          <p:cNvSpPr txBox="1"/>
          <p:nvPr/>
        </p:nvSpPr>
        <p:spPr>
          <a:xfrm>
            <a:off x="548640" y="3246120"/>
            <a:ext cx="11094415" cy="822960"/>
          </a:xfrm>
          <a:prstGeom prst="rect">
            <a:avLst/>
          </a:prstGeom>
          <a:noFill/>
        </p:spPr>
        <p:txBody>
          <a:bodyPr wrap="square" anchor="t" lIns="36576" rIns="36576">
            <a:spAutoFit/>
          </a:bodyPr>
          <a:lstStyle/>
          <a:p>
            <a:pPr algn="l">
              <a:spcAft>
                <a:spcPts val="800"/>
              </a:spcAft>
            </a:pPr>
            <a:r>
              <a:rPr sz="2200" b="0">
                <a:solidFill>
                  <a:srgbClr val="5A5A55"/>
                </a:solidFill>
                <a:latin typeface="Calibri"/>
              </a:rPr>
              <a:t>Can one spoken word, said right after class, tell us how a student feels?</a:t>
            </a:r>
          </a:p>
        </p:txBody>
      </p:sp>
      <p:sp>
        <p:nvSpPr>
          <p:cNvPr id="4" name="TextBox 3"/>
          <p:cNvSpPr txBox="1"/>
          <p:nvPr/>
        </p:nvSpPr>
        <p:spPr>
          <a:xfrm>
            <a:off x="548640" y="4754880"/>
            <a:ext cx="11094415" cy="82296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CS412 mini-project · Group 3 · second-year Computer Science students · results of 2026-10-12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What we asked</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One word, two ratings, and a strict test</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2</a:t>
            </a:r>
          </a:p>
        </p:txBody>
      </p:sp>
      <p:sp>
        <p:nvSpPr>
          <p:cNvPr id="7" name="TextBox 6"/>
          <p:cNvSpPr txBox="1"/>
          <p:nvPr/>
        </p:nvSpPr>
        <p:spPr>
          <a:xfrm>
            <a:off x="548640" y="1737360"/>
            <a:ext cx="6766560" cy="4389120"/>
          </a:xfrm>
          <a:prstGeom prst="rect">
            <a:avLst/>
          </a:prstGeom>
          <a:noFill/>
        </p:spPr>
        <p:txBody>
          <a:bodyPr wrap="square" anchor="t" lIns="36576" rIns="36576">
            <a:spAutoFit/>
          </a:bodyPr>
          <a:lstStyle/>
          <a:p>
            <a:pPr algn="l" marL="274320" indent="-274320">
              <a:spcAft>
                <a:spcPts val="600"/>
              </a:spcAft>
              <a:buChar char="•"/>
            </a:pPr>
            <a:r>
              <a:rPr sz="1800" b="0">
                <a:solidFill>
                  <a:srgbClr val="1C1C1A"/>
                </a:solidFill>
                <a:latin typeface="Calibri"/>
              </a:rPr>
              <a:t>Right after class, each participant said one Bisaya word that matched their reaction</a:t>
            </a:r>
          </a:p>
          <a:p>
            <a:pPr algn="l" marL="594360" indent="-274320">
              <a:spcAft>
                <a:spcPts val="600"/>
              </a:spcAft>
              <a:buChar char="–"/>
            </a:pPr>
            <a:r>
              <a:rPr sz="1600" b="0">
                <a:solidFill>
                  <a:srgbClr val="1C1C1A"/>
                </a:solidFill>
                <a:latin typeface="Calibri"/>
              </a:rPr>
              <a:t>Suggested words: Salamat, Ambot, Grabe, Lisod, Sayon, Lingaw, Kapoy</a:t>
            </a:r>
          </a:p>
          <a:p>
            <a:pPr algn="l" marL="274320" indent="-274320">
              <a:spcAft>
                <a:spcPts val="600"/>
              </a:spcAft>
              <a:buChar char="•"/>
            </a:pPr>
            <a:r>
              <a:rPr sz="1800" b="0">
                <a:solidFill>
                  <a:srgbClr val="1C1C1A"/>
                </a:solidFill>
                <a:latin typeface="Calibri"/>
              </a:rPr>
              <a:t>Then they rated their feeling on two scales from 1 to 5</a:t>
            </a:r>
          </a:p>
          <a:p>
            <a:pPr algn="l" marL="594360" indent="-274320">
              <a:spcAft>
                <a:spcPts val="600"/>
              </a:spcAft>
              <a:buChar char="–"/>
            </a:pPr>
            <a:r>
              <a:rPr sz="1600" b="0">
                <a:solidFill>
                  <a:srgbClr val="1C1C1A"/>
                </a:solidFill>
                <a:latin typeface="Calibri"/>
              </a:rPr>
              <a:t>Valence: how pleasant the feeling is</a:t>
            </a:r>
          </a:p>
          <a:p>
            <a:pPr algn="l" marL="594360" indent="-274320">
              <a:spcAft>
                <a:spcPts val="600"/>
              </a:spcAft>
              <a:buChar char="–"/>
            </a:pPr>
            <a:r>
              <a:rPr sz="1600" b="0">
                <a:solidFill>
                  <a:srgbClr val="1C1C1A"/>
                </a:solidFill>
                <a:latin typeface="Calibri"/>
              </a:rPr>
              <a:t>Arousal: how much energy the feeling has</a:t>
            </a:r>
          </a:p>
          <a:p>
            <a:pPr algn="l" marL="274320" indent="-274320">
              <a:spcAft>
                <a:spcPts val="600"/>
              </a:spcAft>
              <a:buChar char="•"/>
            </a:pPr>
            <a:r>
              <a:rPr sz="1800" b="0">
                <a:solidFill>
                  <a:srgbClr val="1C1C1A"/>
                </a:solidFill>
                <a:latin typeface="Calibri"/>
              </a:rPr>
              <a:t>Our question: can the sound of the word tell us those ratings?</a:t>
            </a:r>
          </a:p>
          <a:p>
            <a:pPr algn="l" marL="274320" indent="-274320">
              <a:spcAft>
                <a:spcPts val="600"/>
              </a:spcAft>
              <a:buChar char="•"/>
            </a:pPr>
            <a:r>
              <a:rPr sz="1800" b="0">
                <a:solidFill>
                  <a:srgbClr val="1C1C1A"/>
                </a:solidFill>
                <a:latin typeface="Calibri"/>
              </a:rPr>
              <a:t>The test is strict: the computer is always tested on people it has never heard</a:t>
            </a:r>
          </a:p>
        </p:txBody>
      </p:sp>
      <p:sp>
        <p:nvSpPr>
          <p:cNvPr id="8" name="Rounded Rectangle 7"/>
          <p:cNvSpPr/>
          <p:nvPr/>
        </p:nvSpPr>
        <p:spPr>
          <a:xfrm>
            <a:off x="7680960" y="1783080"/>
            <a:ext cx="3931920" cy="1280160"/>
          </a:xfrm>
          <a:prstGeom prst="roundRect">
            <a:avLst>
              <a:gd name="adj" fmla="val 8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947672"/>
            <a:ext cx="1371600" cy="914400"/>
          </a:xfrm>
          <a:prstGeom prst="rect">
            <a:avLst/>
          </a:prstGeom>
          <a:noFill/>
        </p:spPr>
        <p:txBody>
          <a:bodyPr wrap="square" anchor="t" lIns="36576" rIns="36576">
            <a:spAutoFit/>
          </a:bodyPr>
          <a:lstStyle/>
          <a:p>
            <a:pPr algn="l">
              <a:spcAft>
                <a:spcPts val="800"/>
              </a:spcAft>
            </a:pPr>
            <a:r>
              <a:rPr sz="4000" b="1">
                <a:solidFill>
                  <a:srgbClr val="2563C9"/>
                </a:solidFill>
                <a:latin typeface="Calibri"/>
              </a:rPr>
              <a:t>1</a:t>
            </a:r>
          </a:p>
        </p:txBody>
      </p:sp>
      <p:sp>
        <p:nvSpPr>
          <p:cNvPr id="10" name="TextBox 9"/>
          <p:cNvSpPr txBox="1"/>
          <p:nvPr/>
        </p:nvSpPr>
        <p:spPr>
          <a:xfrm>
            <a:off x="9144000" y="2167128"/>
            <a:ext cx="2377440" cy="731520"/>
          </a:xfrm>
          <a:prstGeom prst="rect">
            <a:avLst/>
          </a:prstGeom>
          <a:noFill/>
        </p:spPr>
        <p:txBody>
          <a:bodyPr wrap="square" anchor="t" lIns="36576" rIns="36576">
            <a:spAutoFit/>
          </a:bodyPr>
          <a:lstStyle/>
          <a:p>
            <a:pPr algn="l">
              <a:spcAft>
                <a:spcPts val="800"/>
              </a:spcAft>
            </a:pPr>
            <a:r>
              <a:rPr sz="1600" b="0">
                <a:solidFill>
                  <a:srgbClr val="1C1C1A"/>
                </a:solidFill>
                <a:latin typeface="Calibri"/>
              </a:rPr>
              <a:t>word per participant</a:t>
            </a:r>
          </a:p>
        </p:txBody>
      </p:sp>
      <p:sp>
        <p:nvSpPr>
          <p:cNvPr id="11" name="Rounded Rectangle 10"/>
          <p:cNvSpPr/>
          <p:nvPr/>
        </p:nvSpPr>
        <p:spPr>
          <a:xfrm>
            <a:off x="7680960" y="3246120"/>
            <a:ext cx="3931920" cy="1280160"/>
          </a:xfrm>
          <a:prstGeom prst="roundRect">
            <a:avLst>
              <a:gd name="adj" fmla="val 8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3410712"/>
            <a:ext cx="1371600" cy="914400"/>
          </a:xfrm>
          <a:prstGeom prst="rect">
            <a:avLst/>
          </a:prstGeom>
          <a:noFill/>
        </p:spPr>
        <p:txBody>
          <a:bodyPr wrap="square" anchor="t" lIns="36576" rIns="36576">
            <a:spAutoFit/>
          </a:bodyPr>
          <a:lstStyle/>
          <a:p>
            <a:pPr algn="l">
              <a:spcAft>
                <a:spcPts val="800"/>
              </a:spcAft>
            </a:pPr>
            <a:r>
              <a:rPr sz="4000" b="1">
                <a:solidFill>
                  <a:srgbClr val="2563C9"/>
                </a:solidFill>
                <a:latin typeface="Calibri"/>
              </a:rPr>
              <a:t>2</a:t>
            </a:r>
          </a:p>
        </p:txBody>
      </p:sp>
      <p:sp>
        <p:nvSpPr>
          <p:cNvPr id="13" name="TextBox 12"/>
          <p:cNvSpPr txBox="1"/>
          <p:nvPr/>
        </p:nvSpPr>
        <p:spPr>
          <a:xfrm>
            <a:off x="9144000" y="3630168"/>
            <a:ext cx="2377440" cy="731520"/>
          </a:xfrm>
          <a:prstGeom prst="rect">
            <a:avLst/>
          </a:prstGeom>
          <a:noFill/>
        </p:spPr>
        <p:txBody>
          <a:bodyPr wrap="square" anchor="t" lIns="36576" rIns="36576">
            <a:spAutoFit/>
          </a:bodyPr>
          <a:lstStyle/>
          <a:p>
            <a:pPr algn="l">
              <a:spcAft>
                <a:spcPts val="800"/>
              </a:spcAft>
            </a:pPr>
            <a:r>
              <a:rPr sz="1600" b="0">
                <a:solidFill>
                  <a:srgbClr val="1C1C1A"/>
                </a:solidFill>
                <a:latin typeface="Calibri"/>
              </a:rPr>
              <a:t>ratings from 1 to 5</a:t>
            </a:r>
          </a:p>
        </p:txBody>
      </p:sp>
      <p:sp>
        <p:nvSpPr>
          <p:cNvPr id="14" name="Rounded Rectangle 13"/>
          <p:cNvSpPr/>
          <p:nvPr/>
        </p:nvSpPr>
        <p:spPr>
          <a:xfrm>
            <a:off x="7680960" y="4709160"/>
            <a:ext cx="3931920" cy="1280160"/>
          </a:xfrm>
          <a:prstGeom prst="roundRect">
            <a:avLst>
              <a:gd name="adj" fmla="val 8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4873752"/>
            <a:ext cx="1371600" cy="914400"/>
          </a:xfrm>
          <a:prstGeom prst="rect">
            <a:avLst/>
          </a:prstGeom>
          <a:noFill/>
        </p:spPr>
        <p:txBody>
          <a:bodyPr wrap="square" anchor="t" lIns="36576" rIns="36576">
            <a:spAutoFit/>
          </a:bodyPr>
          <a:lstStyle/>
          <a:p>
            <a:pPr algn="l">
              <a:spcAft>
                <a:spcPts val="800"/>
              </a:spcAft>
            </a:pPr>
            <a:r>
              <a:rPr sz="4000" b="1">
                <a:solidFill>
                  <a:srgbClr val="2563C9"/>
                </a:solidFill>
                <a:latin typeface="Calibri"/>
              </a:rPr>
              <a:t>108</a:t>
            </a:r>
          </a:p>
        </p:txBody>
      </p:sp>
      <p:sp>
        <p:nvSpPr>
          <p:cNvPr id="16" name="TextBox 15"/>
          <p:cNvSpPr txBox="1"/>
          <p:nvPr/>
        </p:nvSpPr>
        <p:spPr>
          <a:xfrm>
            <a:off x="9144000" y="5093208"/>
            <a:ext cx="2377440" cy="731520"/>
          </a:xfrm>
          <a:prstGeom prst="rect">
            <a:avLst/>
          </a:prstGeom>
          <a:noFill/>
        </p:spPr>
        <p:txBody>
          <a:bodyPr wrap="square" anchor="t" lIns="36576" rIns="36576">
            <a:spAutoFit/>
          </a:bodyPr>
          <a:lstStyle/>
          <a:p>
            <a:pPr algn="l">
              <a:spcAft>
                <a:spcPts val="800"/>
              </a:spcAft>
            </a:pPr>
            <a:r>
              <a:rPr sz="1600" b="0">
                <a:solidFill>
                  <a:srgbClr val="1C1C1A"/>
                </a:solidFill>
                <a:latin typeface="Calibri"/>
              </a:rPr>
              <a:t>voice measurements per recording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The data we had</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What went into the analysis</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3</a:t>
            </a:r>
          </a:p>
        </p:txBody>
      </p:sp>
      <p:sp>
        <p:nvSpPr>
          <p:cNvPr id="7" name="Rounded Rectangle 6"/>
          <p:cNvSpPr/>
          <p:nvPr/>
        </p:nvSpPr>
        <p:spPr>
          <a:xfrm>
            <a:off x="548640" y="1783080"/>
            <a:ext cx="2602153" cy="1417320"/>
          </a:xfrm>
          <a:prstGeom prst="roundRect">
            <a:avLst>
              <a:gd name="adj" fmla="val 8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92807"/>
            <a:ext cx="2327833" cy="731520"/>
          </a:xfrm>
          <a:prstGeom prst="rect">
            <a:avLst/>
          </a:prstGeom>
          <a:noFill/>
        </p:spPr>
        <p:txBody>
          <a:bodyPr wrap="square" anchor="t" lIns="36576" rIns="36576">
            <a:spAutoFit/>
          </a:bodyPr>
          <a:lstStyle/>
          <a:p>
            <a:pPr algn="l">
              <a:spcAft>
                <a:spcPts val="800"/>
              </a:spcAft>
            </a:pPr>
            <a:r>
              <a:rPr sz="4000" b="1">
                <a:solidFill>
                  <a:srgbClr val="2563C9"/>
                </a:solidFill>
                <a:latin typeface="Calibri"/>
              </a:rPr>
              <a:t>40</a:t>
            </a:r>
          </a:p>
        </p:txBody>
      </p:sp>
      <p:sp>
        <p:nvSpPr>
          <p:cNvPr id="9" name="TextBox 8"/>
          <p:cNvSpPr txBox="1"/>
          <p:nvPr/>
        </p:nvSpPr>
        <p:spPr>
          <a:xfrm>
            <a:off x="685800" y="2624328"/>
            <a:ext cx="2327833" cy="548640"/>
          </a:xfrm>
          <a:prstGeom prst="rect">
            <a:avLst/>
          </a:prstGeom>
          <a:noFill/>
        </p:spPr>
        <p:txBody>
          <a:bodyPr wrap="square" anchor="t" lIns="36576" rIns="36576">
            <a:spAutoFit/>
          </a:bodyPr>
          <a:lstStyle/>
          <a:p>
            <a:pPr algn="l">
              <a:spcAft>
                <a:spcPts val="800"/>
              </a:spcAft>
            </a:pPr>
            <a:r>
              <a:rPr sz="1400" b="0">
                <a:solidFill>
                  <a:srgbClr val="1C1C1A"/>
                </a:solidFill>
                <a:latin typeface="Calibri"/>
              </a:rPr>
              <a:t>participants in the sheet</a:t>
            </a:r>
          </a:p>
        </p:txBody>
      </p:sp>
      <p:sp>
        <p:nvSpPr>
          <p:cNvPr id="10" name="Rounded Rectangle 9"/>
          <p:cNvSpPr/>
          <p:nvPr/>
        </p:nvSpPr>
        <p:spPr>
          <a:xfrm>
            <a:off x="3379393" y="1783080"/>
            <a:ext cx="2602153" cy="1417320"/>
          </a:xfrm>
          <a:prstGeom prst="roundRect">
            <a:avLst>
              <a:gd name="adj" fmla="val 8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6553" y="1892807"/>
            <a:ext cx="2327833" cy="731520"/>
          </a:xfrm>
          <a:prstGeom prst="rect">
            <a:avLst/>
          </a:prstGeom>
          <a:noFill/>
        </p:spPr>
        <p:txBody>
          <a:bodyPr wrap="square" anchor="t" lIns="36576" rIns="36576">
            <a:spAutoFit/>
          </a:bodyPr>
          <a:lstStyle/>
          <a:p>
            <a:pPr algn="l">
              <a:spcAft>
                <a:spcPts val="800"/>
              </a:spcAft>
            </a:pPr>
            <a:r>
              <a:rPr sz="4000" b="1">
                <a:solidFill>
                  <a:srgbClr val="2563C9"/>
                </a:solidFill>
                <a:latin typeface="Calibri"/>
              </a:rPr>
              <a:t>40</a:t>
            </a:r>
          </a:p>
        </p:txBody>
      </p:sp>
      <p:sp>
        <p:nvSpPr>
          <p:cNvPr id="12" name="TextBox 11"/>
          <p:cNvSpPr txBox="1"/>
          <p:nvPr/>
        </p:nvSpPr>
        <p:spPr>
          <a:xfrm>
            <a:off x="3516553" y="2624328"/>
            <a:ext cx="2327833" cy="548640"/>
          </a:xfrm>
          <a:prstGeom prst="rect">
            <a:avLst/>
          </a:prstGeom>
          <a:noFill/>
        </p:spPr>
        <p:txBody>
          <a:bodyPr wrap="square" anchor="t" lIns="36576" rIns="36576">
            <a:spAutoFit/>
          </a:bodyPr>
          <a:lstStyle/>
          <a:p>
            <a:pPr algn="l">
              <a:spcAft>
                <a:spcPts val="800"/>
              </a:spcAft>
            </a:pPr>
            <a:r>
              <a:rPr sz="1400" b="0">
                <a:solidFill>
                  <a:srgbClr val="1C1C1A"/>
                </a:solidFill>
                <a:latin typeface="Calibri"/>
              </a:rPr>
              <a:t>with a recording</a:t>
            </a:r>
          </a:p>
        </p:txBody>
      </p:sp>
      <p:sp>
        <p:nvSpPr>
          <p:cNvPr id="13" name="Rounded Rectangle 12"/>
          <p:cNvSpPr/>
          <p:nvPr/>
        </p:nvSpPr>
        <p:spPr>
          <a:xfrm>
            <a:off x="6210147" y="1783080"/>
            <a:ext cx="2602153" cy="1417320"/>
          </a:xfrm>
          <a:prstGeom prst="roundRect">
            <a:avLst>
              <a:gd name="adj" fmla="val 8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7307" y="1892807"/>
            <a:ext cx="2327833" cy="731520"/>
          </a:xfrm>
          <a:prstGeom prst="rect">
            <a:avLst/>
          </a:prstGeom>
          <a:noFill/>
        </p:spPr>
        <p:txBody>
          <a:bodyPr wrap="square" anchor="t" lIns="36576" rIns="36576">
            <a:spAutoFit/>
          </a:bodyPr>
          <a:lstStyle/>
          <a:p>
            <a:pPr algn="l">
              <a:spcAft>
                <a:spcPts val="800"/>
              </a:spcAft>
            </a:pPr>
            <a:r>
              <a:rPr sz="4000" b="1">
                <a:solidFill>
                  <a:srgbClr val="2563C9"/>
                </a:solidFill>
                <a:latin typeface="Calibri"/>
              </a:rPr>
              <a:t>40</a:t>
            </a:r>
          </a:p>
        </p:txBody>
      </p:sp>
      <p:sp>
        <p:nvSpPr>
          <p:cNvPr id="15" name="TextBox 14"/>
          <p:cNvSpPr txBox="1"/>
          <p:nvPr/>
        </p:nvSpPr>
        <p:spPr>
          <a:xfrm>
            <a:off x="6347307" y="2624328"/>
            <a:ext cx="2327833" cy="548640"/>
          </a:xfrm>
          <a:prstGeom prst="rect">
            <a:avLst/>
          </a:prstGeom>
          <a:noFill/>
        </p:spPr>
        <p:txBody>
          <a:bodyPr wrap="square" anchor="t" lIns="36576" rIns="36576">
            <a:spAutoFit/>
          </a:bodyPr>
          <a:lstStyle/>
          <a:p>
            <a:pPr algn="l">
              <a:spcAft>
                <a:spcPts val="800"/>
              </a:spcAft>
            </a:pPr>
            <a:r>
              <a:rPr sz="1400" b="0">
                <a:solidFill>
                  <a:srgbClr val="1C1C1A"/>
                </a:solidFill>
                <a:latin typeface="Calibri"/>
              </a:rPr>
              <a:t>analysed</a:t>
            </a:r>
          </a:p>
        </p:txBody>
      </p:sp>
      <p:sp>
        <p:nvSpPr>
          <p:cNvPr id="16" name="Rounded Rectangle 15"/>
          <p:cNvSpPr/>
          <p:nvPr/>
        </p:nvSpPr>
        <p:spPr>
          <a:xfrm>
            <a:off x="9040901" y="1783080"/>
            <a:ext cx="2602153" cy="1417320"/>
          </a:xfrm>
          <a:prstGeom prst="roundRect">
            <a:avLst>
              <a:gd name="adj" fmla="val 8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8061" y="1892807"/>
            <a:ext cx="2327833" cy="731520"/>
          </a:xfrm>
          <a:prstGeom prst="rect">
            <a:avLst/>
          </a:prstGeom>
          <a:noFill/>
        </p:spPr>
        <p:txBody>
          <a:bodyPr wrap="square" anchor="t" lIns="36576" rIns="36576">
            <a:spAutoFit/>
          </a:bodyPr>
          <a:lstStyle/>
          <a:p>
            <a:pPr algn="l">
              <a:spcAft>
                <a:spcPts val="800"/>
              </a:spcAft>
            </a:pPr>
            <a:r>
              <a:rPr sz="4000" b="1">
                <a:solidFill>
                  <a:srgbClr val="2563C9"/>
                </a:solidFill>
                <a:latin typeface="Calibri"/>
              </a:rPr>
              <a:t>40</a:t>
            </a:r>
          </a:p>
        </p:txBody>
      </p:sp>
      <p:sp>
        <p:nvSpPr>
          <p:cNvPr id="18" name="TextBox 17"/>
          <p:cNvSpPr txBox="1"/>
          <p:nvPr/>
        </p:nvSpPr>
        <p:spPr>
          <a:xfrm>
            <a:off x="9178061" y="2624328"/>
            <a:ext cx="2327833" cy="548640"/>
          </a:xfrm>
          <a:prstGeom prst="rect">
            <a:avLst/>
          </a:prstGeom>
          <a:noFill/>
        </p:spPr>
        <p:txBody>
          <a:bodyPr wrap="square" anchor="t" lIns="36576" rIns="36576">
            <a:spAutoFit/>
          </a:bodyPr>
          <a:lstStyle/>
          <a:p>
            <a:pPr algn="l">
              <a:spcAft>
                <a:spcPts val="800"/>
              </a:spcAft>
            </a:pPr>
            <a:r>
              <a:rPr sz="1400" b="0">
                <a:solidFill>
                  <a:srgbClr val="1C1C1A"/>
                </a:solidFill>
                <a:latin typeface="Calibri"/>
              </a:rPr>
              <a:t>required by the protocol</a:t>
            </a:r>
          </a:p>
        </p:txBody>
      </p:sp>
      <p:sp>
        <p:nvSpPr>
          <p:cNvPr id="19" name="TextBox 18"/>
          <p:cNvSpPr txBox="1"/>
          <p:nvPr/>
        </p:nvSpPr>
        <p:spPr>
          <a:xfrm>
            <a:off x="548640" y="3520440"/>
            <a:ext cx="11094415" cy="2743200"/>
          </a:xfrm>
          <a:prstGeom prst="rect">
            <a:avLst/>
          </a:prstGeom>
          <a:noFill/>
        </p:spPr>
        <p:txBody>
          <a:bodyPr wrap="square" anchor="t" lIns="36576" rIns="36576">
            <a:spAutoFit/>
          </a:bodyPr>
          <a:lstStyle/>
          <a:p>
            <a:pPr algn="l" marL="274320" indent="-274320">
              <a:spcAft>
                <a:spcPts val="600"/>
              </a:spcAft>
              <a:buChar char="•"/>
            </a:pPr>
            <a:r>
              <a:rPr sz="1700" b="0">
                <a:solidFill>
                  <a:srgbClr val="1C1C1A"/>
                </a:solidFill>
                <a:latin typeface="Calibri"/>
              </a:rPr>
              <a:t>Audio: one short 16 kHz WAV file per participant, converted by the group from the phone recordings</a:t>
            </a:r>
          </a:p>
          <a:p>
            <a:pPr algn="l" marL="594360" indent="-274320">
              <a:spcAft>
                <a:spcPts val="600"/>
              </a:spcAft>
              <a:buChar char="–"/>
            </a:pPr>
            <a:r>
              <a:rPr sz="1500" b="0">
                <a:solidFill>
                  <a:srgbClr val="1C1C1A"/>
                </a:solidFill>
                <a:latin typeface="Calibri"/>
              </a:rPr>
              <a:t>31 files match an original recording. 9 could not be checked, and 3 are edited or clipped</a:t>
            </a:r>
          </a:p>
          <a:p>
            <a:pPr algn="l" marL="594360" indent="-274320">
              <a:spcAft>
                <a:spcPts val="600"/>
              </a:spcAft>
              <a:buChar char="–"/>
            </a:pPr>
            <a:r>
              <a:rPr sz="1500" b="0">
                <a:solidFill>
                  <a:srgbClr val="1C1C1A"/>
                </a:solidFill>
                <a:latin typeface="Calibri"/>
              </a:rPr>
              <a:t>We ran the models again without those files</a:t>
            </a:r>
          </a:p>
          <a:p>
            <a:pPr algn="l" marL="274320" indent="-274320">
              <a:spcAft>
                <a:spcPts val="600"/>
              </a:spcAft>
              <a:buChar char="•"/>
            </a:pPr>
            <a:r>
              <a:rPr sz="1700" b="0">
                <a:solidFill>
                  <a:srgbClr val="1C1C1A"/>
                </a:solidFill>
                <a:latin typeface="Calibri"/>
              </a:rPr>
              <a:t>Every participant has a spoken word in the sheet. No word was guessed from the feeling text</a:t>
            </a:r>
          </a:p>
          <a:p>
            <a:pPr algn="l" marL="594360" indent="-274320">
              <a:spcAft>
                <a:spcPts val="600"/>
              </a:spcAft>
              <a:buChar char="–"/>
            </a:pPr>
            <a:r>
              <a:rPr sz="1500" b="0">
                <a:solidFill>
                  <a:srgbClr val="1C1C1A"/>
                </a:solidFill>
                <a:latin typeface="Calibri"/>
              </a:rPr>
              <a:t>The group completed the sheet on 12 October: 9 blank words filled in and the ratings of 3 participants corrected. The earlier sheet and its results are kept</a:t>
            </a:r>
          </a:p>
          <a:p>
            <a:pPr algn="l" marL="274320" indent="-274320">
              <a:spcAft>
                <a:spcPts val="600"/>
              </a:spcAft>
              <a:buChar char="•"/>
            </a:pPr>
            <a:r>
              <a:rPr sz="1700" b="0">
                <a:solidFill>
                  <a:srgbClr val="1C1C1A"/>
                </a:solidFill>
                <a:latin typeface="Calibri"/>
              </a:rPr>
              <a:t>Noise: background voices in 16 of 40 recordings</a:t>
            </a:r>
          </a:p>
          <a:p>
            <a:pPr algn="l" marL="274320" indent="-274320">
              <a:spcAft>
                <a:spcPts val="600"/>
              </a:spcAft>
              <a:buChar char="•"/>
            </a:pPr>
            <a:r>
              <a:rPr sz="1700" b="0">
                <a:solidFill>
                  <a:srgbClr val="1C1C1A"/>
                </a:solidFill>
                <a:latin typeface="Calibri"/>
              </a:rPr>
              <a:t>Consent: the sheet says Yes for everyone, but the log of signed forms is not complete yet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How we analysed it</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One command runs eight steps. Each step writes its own report</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4</a:t>
            </a:r>
          </a:p>
        </p:txBody>
      </p:sp>
      <p:sp>
        <p:nvSpPr>
          <p:cNvPr id="7" name="Rounded Rectangle 6"/>
          <p:cNvSpPr/>
          <p:nvPr/>
        </p:nvSpPr>
        <p:spPr>
          <a:xfrm>
            <a:off x="548640" y="178308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874519"/>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1. Check</a:t>
            </a:r>
          </a:p>
        </p:txBody>
      </p:sp>
      <p:sp>
        <p:nvSpPr>
          <p:cNvPr id="9" name="TextBox 8"/>
          <p:cNvSpPr txBox="1"/>
          <p:nvPr/>
        </p:nvSpPr>
        <p:spPr>
          <a:xfrm>
            <a:off x="658368" y="224028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every file and every sheet cell is checked; nothing is changed</a:t>
            </a:r>
          </a:p>
        </p:txBody>
      </p:sp>
      <p:sp>
        <p:nvSpPr>
          <p:cNvPr id="10" name="Right Arrow 9"/>
          <p:cNvSpPr/>
          <p:nvPr/>
        </p:nvSpPr>
        <p:spPr>
          <a:xfrm>
            <a:off x="3086785" y="2244852"/>
            <a:ext cx="265176" cy="219456"/>
          </a:xfrm>
          <a:prstGeom prst="rightArrow">
            <a:avLst/>
          </a:prstGeom>
          <a:solidFill>
            <a:srgbClr val="2563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5113" y="178308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4841" y="1874519"/>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2. Clean</a:t>
            </a:r>
          </a:p>
        </p:txBody>
      </p:sp>
      <p:sp>
        <p:nvSpPr>
          <p:cNvPr id="13" name="TextBox 12"/>
          <p:cNvSpPr txBox="1"/>
          <p:nvPr/>
        </p:nvSpPr>
        <p:spPr>
          <a:xfrm>
            <a:off x="3534841" y="224028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fixes by fixed rules only; every fix is logged</a:t>
            </a:r>
          </a:p>
        </p:txBody>
      </p:sp>
      <p:sp>
        <p:nvSpPr>
          <p:cNvPr id="14" name="Right Arrow 13"/>
          <p:cNvSpPr/>
          <p:nvPr/>
        </p:nvSpPr>
        <p:spPr>
          <a:xfrm>
            <a:off x="5963259" y="2244852"/>
            <a:ext cx="265176" cy="219456"/>
          </a:xfrm>
          <a:prstGeom prst="rightArrow">
            <a:avLst/>
          </a:prstGeom>
          <a:solidFill>
            <a:srgbClr val="2563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1587" y="178308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1315" y="1874519"/>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3. Find the word</a:t>
            </a:r>
          </a:p>
        </p:txBody>
      </p:sp>
      <p:sp>
        <p:nvSpPr>
          <p:cNvPr id="17" name="TextBox 16"/>
          <p:cNvSpPr txBox="1"/>
          <p:nvPr/>
        </p:nvSpPr>
        <p:spPr>
          <a:xfrm>
            <a:off x="6411315" y="224028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the computer finds the spoken word in each clip, without seeing the ratings</a:t>
            </a:r>
          </a:p>
        </p:txBody>
      </p:sp>
      <p:sp>
        <p:nvSpPr>
          <p:cNvPr id="18" name="Right Arrow 17"/>
          <p:cNvSpPr/>
          <p:nvPr/>
        </p:nvSpPr>
        <p:spPr>
          <a:xfrm>
            <a:off x="8839733" y="2244852"/>
            <a:ext cx="265176" cy="219456"/>
          </a:xfrm>
          <a:prstGeom prst="rightArrow">
            <a:avLst/>
          </a:prstGeom>
          <a:solidFill>
            <a:srgbClr val="2563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78061" y="178308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7789" y="1874519"/>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4. Measure</a:t>
            </a:r>
          </a:p>
        </p:txBody>
      </p:sp>
      <p:sp>
        <p:nvSpPr>
          <p:cNvPr id="21" name="TextBox 20"/>
          <p:cNvSpPr txBox="1"/>
          <p:nvPr/>
        </p:nvSpPr>
        <p:spPr>
          <a:xfrm>
            <a:off x="9287789" y="224028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108 numbers per voice: pitch, loudness, sound shape</a:t>
            </a:r>
          </a:p>
        </p:txBody>
      </p:sp>
      <p:sp>
        <p:nvSpPr>
          <p:cNvPr id="22" name="Rounded Rectangle 21"/>
          <p:cNvSpPr/>
          <p:nvPr/>
        </p:nvSpPr>
        <p:spPr>
          <a:xfrm>
            <a:off x="548640" y="342900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520440"/>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5. Explore</a:t>
            </a:r>
          </a:p>
        </p:txBody>
      </p:sp>
      <p:sp>
        <p:nvSpPr>
          <p:cNvPr id="24" name="TextBox 23"/>
          <p:cNvSpPr txBox="1"/>
          <p:nvPr/>
        </p:nvSpPr>
        <p:spPr>
          <a:xfrm>
            <a:off x="658368" y="388620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charts, and simple links between voice and ratings</a:t>
            </a:r>
          </a:p>
        </p:txBody>
      </p:sp>
      <p:sp>
        <p:nvSpPr>
          <p:cNvPr id="25" name="Right Arrow 24"/>
          <p:cNvSpPr/>
          <p:nvPr/>
        </p:nvSpPr>
        <p:spPr>
          <a:xfrm>
            <a:off x="3086785" y="3890772"/>
            <a:ext cx="265176" cy="219456"/>
          </a:xfrm>
          <a:prstGeom prst="rightArrow">
            <a:avLst/>
          </a:prstGeom>
          <a:solidFill>
            <a:srgbClr val="2563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425113" y="342900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34841" y="3520440"/>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6. Train</a:t>
            </a:r>
          </a:p>
        </p:txBody>
      </p:sp>
      <p:sp>
        <p:nvSpPr>
          <p:cNvPr id="28" name="TextBox 27"/>
          <p:cNvSpPr txBox="1"/>
          <p:nvPr/>
        </p:nvSpPr>
        <p:spPr>
          <a:xfrm>
            <a:off x="3534841" y="388620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three models learn from some participants and are tested on the others, 10 times</a:t>
            </a:r>
          </a:p>
        </p:txBody>
      </p:sp>
      <p:sp>
        <p:nvSpPr>
          <p:cNvPr id="29" name="Right Arrow 28"/>
          <p:cNvSpPr/>
          <p:nvPr/>
        </p:nvSpPr>
        <p:spPr>
          <a:xfrm>
            <a:off x="5963259" y="3890772"/>
            <a:ext cx="265176" cy="219456"/>
          </a:xfrm>
          <a:prstGeom prst="rightArrow">
            <a:avLst/>
          </a:prstGeom>
          <a:solidFill>
            <a:srgbClr val="2563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01587" y="342900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1315" y="3520440"/>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7. Test</a:t>
            </a:r>
          </a:p>
        </p:txBody>
      </p:sp>
      <p:sp>
        <p:nvSpPr>
          <p:cNvPr id="32" name="TextBox 31"/>
          <p:cNvSpPr txBox="1"/>
          <p:nvPr/>
        </p:nvSpPr>
        <p:spPr>
          <a:xfrm>
            <a:off x="6411315" y="388620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is the score better than luck? 500 shuffles of the ratings, then a correction</a:t>
            </a:r>
          </a:p>
        </p:txBody>
      </p:sp>
      <p:sp>
        <p:nvSpPr>
          <p:cNvPr id="33" name="Right Arrow 32"/>
          <p:cNvSpPr/>
          <p:nvPr/>
        </p:nvSpPr>
        <p:spPr>
          <a:xfrm>
            <a:off x="8839733" y="3890772"/>
            <a:ext cx="265176" cy="219456"/>
          </a:xfrm>
          <a:prstGeom prst="rightArrow">
            <a:avLst/>
          </a:prstGeom>
          <a:solidFill>
            <a:srgbClr val="2563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178061" y="3429000"/>
            <a:ext cx="2464993" cy="1143000"/>
          </a:xfrm>
          <a:prstGeom prst="roundRect">
            <a:avLst>
              <a:gd name="adj" fmla="val 12000"/>
            </a:avLst>
          </a:prstGeom>
          <a:solidFill>
            <a:srgbClr val="F1F4FA"/>
          </a:solidFill>
          <a:ln>
            <a:solidFill>
              <a:srgbClr val="E2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87789" y="3520440"/>
            <a:ext cx="2245537" cy="365760"/>
          </a:xfrm>
          <a:prstGeom prst="rect">
            <a:avLst/>
          </a:prstGeom>
          <a:noFill/>
        </p:spPr>
        <p:txBody>
          <a:bodyPr wrap="square" anchor="t" lIns="36576" rIns="36576">
            <a:spAutoFit/>
          </a:bodyPr>
          <a:lstStyle/>
          <a:p>
            <a:pPr algn="l">
              <a:spcAft>
                <a:spcPts val="800"/>
              </a:spcAft>
            </a:pPr>
            <a:r>
              <a:rPr sz="1500" b="1">
                <a:solidFill>
                  <a:srgbClr val="1C1C1A"/>
                </a:solidFill>
                <a:latin typeface="Calibri"/>
              </a:rPr>
              <a:t>8. Word check</a:t>
            </a:r>
          </a:p>
        </p:txBody>
      </p:sp>
      <p:sp>
        <p:nvSpPr>
          <p:cNvPr id="36" name="TextBox 35"/>
          <p:cNvSpPr txBox="1"/>
          <p:nvPr/>
        </p:nvSpPr>
        <p:spPr>
          <a:xfrm>
            <a:off x="9287789" y="3886200"/>
            <a:ext cx="2245537" cy="640080"/>
          </a:xfrm>
          <a:prstGeom prst="rect">
            <a:avLst/>
          </a:prstGeom>
          <a:noFill/>
        </p:spPr>
        <p:txBody>
          <a:bodyPr wrap="square" anchor="t" lIns="36576" rIns="36576">
            <a:spAutoFit/>
          </a:bodyPr>
          <a:lstStyle/>
          <a:p>
            <a:pPr algn="l">
              <a:spcAft>
                <a:spcPts val="800"/>
              </a:spcAft>
            </a:pPr>
            <a:r>
              <a:rPr sz="1200" b="0">
                <a:solidFill>
                  <a:srgbClr val="5A5A55"/>
                </a:solidFill>
                <a:latin typeface="Calibri"/>
              </a:rPr>
              <a:t>does the model hear the feeling, or only the word?</a:t>
            </a:r>
          </a:p>
        </p:txBody>
      </p:sp>
      <p:sp>
        <p:nvSpPr>
          <p:cNvPr id="37" name="TextBox 36"/>
          <p:cNvSpPr txBox="1"/>
          <p:nvPr/>
        </p:nvSpPr>
        <p:spPr>
          <a:xfrm>
            <a:off x="548640" y="5257800"/>
            <a:ext cx="11094415" cy="914400"/>
          </a:xfrm>
          <a:prstGeom prst="rect">
            <a:avLst/>
          </a:prstGeom>
          <a:noFill/>
        </p:spPr>
        <p:txBody>
          <a:bodyPr wrap="square" anchor="t" lIns="36576" rIns="36576">
            <a:spAutoFit/>
          </a:bodyPr>
          <a:lstStyle/>
          <a:p>
            <a:pPr algn="l">
              <a:spcAft>
                <a:spcPts val="800"/>
              </a:spcAft>
            </a:pPr>
            <a:r>
              <a:rPr sz="1500" b="0">
                <a:solidFill>
                  <a:srgbClr val="5A5A55"/>
                </a:solidFill>
                <a:latin typeface="Calibri"/>
              </a:rPr>
              <a:t>Three rules keep the test fair: no participant is in both the training and the test data · the model's settings are learned from the training data only · the ratings are never used to cut or choose audio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What the participants reported</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Pleasant feelings came with higher energy (Spearman correlation 0.72, n = 40)</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5</a:t>
            </a:r>
          </a:p>
        </p:txBody>
      </p:sp>
      <p:pic>
        <p:nvPicPr>
          <p:cNvPr id="7" name="Picture 6" descr="fig01_affect_distributions.png"/>
          <p:cNvPicPr>
            <a:picLocks noChangeAspect="1"/>
          </p:cNvPicPr>
          <p:nvPr/>
        </p:nvPicPr>
        <p:blipFill>
          <a:blip r:embed="rId3"/>
          <a:stretch>
            <a:fillRect/>
          </a:stretch>
        </p:blipFill>
        <p:spPr>
          <a:xfrm>
            <a:off x="548640" y="1691640"/>
            <a:ext cx="6949440" cy="3172449"/>
          </a:xfrm>
          <a:prstGeom prst="rect">
            <a:avLst/>
          </a:prstGeom>
        </p:spPr>
      </p:pic>
      <p:sp>
        <p:nvSpPr>
          <p:cNvPr id="8" name="TextBox 7"/>
          <p:cNvSpPr txBox="1"/>
          <p:nvPr/>
        </p:nvSpPr>
        <p:spPr>
          <a:xfrm>
            <a:off x="548640" y="4955529"/>
            <a:ext cx="6949440" cy="548640"/>
          </a:xfrm>
          <a:prstGeom prst="rect">
            <a:avLst/>
          </a:prstGeom>
          <a:noFill/>
        </p:spPr>
        <p:txBody>
          <a:bodyPr wrap="square" anchor="t" lIns="36576" rIns="36576">
            <a:spAutoFit/>
          </a:bodyPr>
          <a:lstStyle/>
          <a:p>
            <a:pPr algn="l">
              <a:spcAft>
                <a:spcPts val="800"/>
              </a:spcAft>
            </a:pPr>
            <a:r>
              <a:rPr sz="1300" b="0">
                <a:solidFill>
                  <a:srgbClr val="5A5A55"/>
                </a:solidFill>
                <a:latin typeface="Calibri"/>
              </a:rPr>
              <a:t>Blue = everyone in the sheet · orange = the participants we analysed (here they are the same people)</a:t>
            </a:r>
          </a:p>
        </p:txBody>
      </p:sp>
      <p:sp>
        <p:nvSpPr>
          <p:cNvPr id="9" name="TextBox 8"/>
          <p:cNvSpPr txBox="1"/>
          <p:nvPr/>
        </p:nvSpPr>
        <p:spPr>
          <a:xfrm>
            <a:off x="7772400" y="1783080"/>
            <a:ext cx="3886200" cy="4389120"/>
          </a:xfrm>
          <a:prstGeom prst="rect">
            <a:avLst/>
          </a:prstGeom>
          <a:noFill/>
        </p:spPr>
        <p:txBody>
          <a:bodyPr wrap="square" anchor="t" lIns="36576" rIns="36576">
            <a:spAutoFit/>
          </a:bodyPr>
          <a:lstStyle/>
          <a:p>
            <a:pPr algn="l" marL="274320" indent="-274320">
              <a:spcAft>
                <a:spcPts val="600"/>
              </a:spcAft>
              <a:buChar char="•"/>
            </a:pPr>
            <a:r>
              <a:rPr sz="1600" b="0">
                <a:solidFill>
                  <a:srgbClr val="1C1C1A"/>
                </a:solidFill>
                <a:latin typeface="Calibri"/>
              </a:rPr>
              <a:t>Most participants felt neutral to pleasant, with moderate to high energy</a:t>
            </a:r>
          </a:p>
          <a:p>
            <a:pPr algn="l" marL="274320" indent="-274320">
              <a:spcAft>
                <a:spcPts val="600"/>
              </a:spcAft>
              <a:buChar char="•"/>
            </a:pPr>
            <a:r>
              <a:rPr sz="1600" b="0">
                <a:solidFill>
                  <a:srgbClr val="1C1C1A"/>
                </a:solidFill>
                <a:latin typeface="Calibri"/>
              </a:rPr>
              <a:t>Some scores were chosen by very few people, so we grouped the scores before modelling:</a:t>
            </a:r>
          </a:p>
          <a:p>
            <a:pPr algn="l" marL="594360" indent="-274320">
              <a:spcAft>
                <a:spcPts val="600"/>
              </a:spcAft>
              <a:buChar char="–"/>
            </a:pPr>
            <a:r>
              <a:rPr sz="1400" b="0">
                <a:solidFill>
                  <a:srgbClr val="1C1C1A"/>
                </a:solidFill>
                <a:latin typeface="Calibri"/>
              </a:rPr>
              <a:t>Arousal: low (1–2), moderate (3), high (4–5)</a:t>
            </a:r>
          </a:p>
          <a:p>
            <a:pPr algn="l" marL="594360" indent="-274320">
              <a:spcAft>
                <a:spcPts val="600"/>
              </a:spcAft>
              <a:buChar char="–"/>
            </a:pPr>
            <a:r>
              <a:rPr sz="1400" b="0">
                <a:solidFill>
                  <a:srgbClr val="1C1C1A"/>
                </a:solidFill>
                <a:latin typeface="Calibri"/>
              </a:rPr>
              <a:t>Valence: not pleasant (1–3), pleasant (4–5)</a:t>
            </a:r>
          </a:p>
          <a:p>
            <a:pPr algn="l" marL="594360" indent="-274320">
              <a:spcAft>
                <a:spcPts val="600"/>
              </a:spcAft>
              <a:buChar char="–"/>
            </a:pPr>
            <a:r>
              <a:rPr sz="1400" b="0">
                <a:solidFill>
                  <a:srgbClr val="1C1C1A"/>
                </a:solidFill>
                <a:latin typeface="Calibri"/>
              </a:rPr>
              <a:t>Arousal: not high (1–3), high (4–5)</a:t>
            </a:r>
          </a:p>
          <a:p>
            <a:pPr algn="l" marL="274320" indent="-274320">
              <a:spcAft>
                <a:spcPts val="600"/>
              </a:spcAft>
              <a:buChar char="•"/>
            </a:pPr>
            <a:r>
              <a:rPr sz="1600" b="0">
                <a:solidFill>
                  <a:srgbClr val="1C1C1A"/>
                </a:solidFill>
                <a:latin typeface="Calibri"/>
              </a:rPr>
              <a:t>Rule: every group needs at least 5 people. Not modelled: valence with all five scores; arousal with all five scores; valence in three groups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Voice measures and the ratings</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Six voice features chosen in advance, out of 108 measured</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6</a:t>
            </a:r>
          </a:p>
        </p:txBody>
      </p:sp>
      <p:graphicFrame>
        <p:nvGraphicFramePr>
          <p:cNvPr id="7" name="Table 6"/>
          <p:cNvGraphicFramePr>
            <a:graphicFrameLocks noGrp="1"/>
          </p:cNvGraphicFramePr>
          <p:nvPr/>
        </p:nvGraphicFramePr>
        <p:xfrm>
          <a:off x="548640" y="1783080"/>
          <a:ext cx="6675120" cy="2688336"/>
        </p:xfrm>
        <a:graphic>
          <a:graphicData uri="http://schemas.openxmlformats.org/drawingml/2006/table">
            <a:tbl>
              <a:tblPr firstRow="1" bandRow="1">
                <a:tableStyleId>{5C22544A-7EE6-4342-B048-85BDC9FD1C3A}</a:tableStyleId>
              </a:tblPr>
              <a:tblGrid>
                <a:gridCol w="2377440"/>
                <a:gridCol w="1417320"/>
                <a:gridCol w="731520"/>
                <a:gridCol w="1417320"/>
                <a:gridCol w="731520"/>
              </a:tblGrid>
              <a:tr h="384048">
                <a:tc>
                  <a:txBody>
                    <a:bodyPr/>
                    <a:lstStyle/>
                    <a:p>
                      <a:r>
                        <a:rPr sz="1400" b="1">
                          <a:solidFill>
                            <a:srgbClr val="FFFFFF"/>
                          </a:solidFill>
                          <a:latin typeface="Calibri"/>
                        </a:rPr>
                        <a:t>Voice feature</a:t>
                      </a:r>
                    </a:p>
                  </a:txBody>
                  <a:tcPr>
                    <a:solidFill>
                      <a:srgbClr val="2563C9"/>
                    </a:solidFill>
                  </a:tcPr>
                </a:tc>
                <a:tc>
                  <a:txBody>
                    <a:bodyPr/>
                    <a:lstStyle/>
                    <a:p>
                      <a:r>
                        <a:rPr sz="1400" b="1">
                          <a:solidFill>
                            <a:srgbClr val="FFFFFF"/>
                          </a:solidFill>
                          <a:latin typeface="Calibri"/>
                        </a:rPr>
                        <a:t>Link with arousal (ρ)</a:t>
                      </a:r>
                    </a:p>
                  </a:txBody>
                  <a:tcPr>
                    <a:solidFill>
                      <a:srgbClr val="2563C9"/>
                    </a:solidFill>
                  </a:tcPr>
                </a:tc>
                <a:tc>
                  <a:txBody>
                    <a:bodyPr/>
                    <a:lstStyle/>
                    <a:p>
                      <a:r>
                        <a:rPr sz="1400" b="1">
                          <a:solidFill>
                            <a:srgbClr val="FFFFFF"/>
                          </a:solidFill>
                          <a:latin typeface="Calibri"/>
                        </a:rPr>
                        <a:t>p</a:t>
                      </a:r>
                    </a:p>
                  </a:txBody>
                  <a:tcPr>
                    <a:solidFill>
                      <a:srgbClr val="2563C9"/>
                    </a:solidFill>
                  </a:tcPr>
                </a:tc>
                <a:tc>
                  <a:txBody>
                    <a:bodyPr/>
                    <a:lstStyle/>
                    <a:p>
                      <a:r>
                        <a:rPr sz="1400" b="1">
                          <a:solidFill>
                            <a:srgbClr val="FFFFFF"/>
                          </a:solidFill>
                          <a:latin typeface="Calibri"/>
                        </a:rPr>
                        <a:t>Link with valence (ρ)</a:t>
                      </a:r>
                    </a:p>
                  </a:txBody>
                  <a:tcPr>
                    <a:solidFill>
                      <a:srgbClr val="2563C9"/>
                    </a:solidFill>
                  </a:tcPr>
                </a:tc>
                <a:tc>
                  <a:txBody>
                    <a:bodyPr/>
                    <a:lstStyle/>
                    <a:p>
                      <a:r>
                        <a:rPr sz="1400" b="1">
                          <a:solidFill>
                            <a:srgbClr val="FFFFFF"/>
                          </a:solidFill>
                          <a:latin typeface="Calibri"/>
                        </a:rPr>
                        <a:t>p </a:t>
                      </a:r>
                    </a:p>
                  </a:txBody>
                  <a:tcPr>
                    <a:solidFill>
                      <a:srgbClr val="2563C9"/>
                    </a:solidFill>
                  </a:tcPr>
                </a:tc>
              </a:tr>
              <a:tr h="384048">
                <a:tc>
                  <a:txBody>
                    <a:bodyPr/>
                    <a:lstStyle/>
                    <a:p>
                      <a:r>
                        <a:rPr sz="1400">
                          <a:solidFill>
                            <a:srgbClr val="1C1C1A"/>
                          </a:solidFill>
                          <a:latin typeface="Calibri"/>
                        </a:rPr>
                        <a:t>Pitch level</a:t>
                      </a:r>
                    </a:p>
                  </a:txBody>
                  <a:tcPr>
                    <a:solidFill>
                      <a:srgbClr val="FFFFFF"/>
                    </a:solidFill>
                  </a:tcPr>
                </a:tc>
                <a:tc>
                  <a:txBody>
                    <a:bodyPr/>
                    <a:lstStyle/>
                    <a:p>
                      <a:r>
                        <a:rPr sz="1400">
                          <a:solidFill>
                            <a:srgbClr val="1C1C1A"/>
                          </a:solidFill>
                          <a:latin typeface="Calibri"/>
                        </a:rPr>
                        <a:t>+0.08</a:t>
                      </a:r>
                    </a:p>
                  </a:txBody>
                  <a:tcPr>
                    <a:solidFill>
                      <a:srgbClr val="FFFFFF"/>
                    </a:solidFill>
                  </a:tcPr>
                </a:tc>
                <a:tc>
                  <a:txBody>
                    <a:bodyPr/>
                    <a:lstStyle/>
                    <a:p>
                      <a:r>
                        <a:rPr sz="1400">
                          <a:solidFill>
                            <a:srgbClr val="1C1C1A"/>
                          </a:solidFill>
                          <a:latin typeface="Calibri"/>
                        </a:rPr>
                        <a:t>0.621</a:t>
                      </a:r>
                    </a:p>
                  </a:txBody>
                  <a:tcPr>
                    <a:solidFill>
                      <a:srgbClr val="FFFFFF"/>
                    </a:solidFill>
                  </a:tcPr>
                </a:tc>
                <a:tc>
                  <a:txBody>
                    <a:bodyPr/>
                    <a:lstStyle/>
                    <a:p>
                      <a:r>
                        <a:rPr sz="1400">
                          <a:solidFill>
                            <a:srgbClr val="1C1C1A"/>
                          </a:solidFill>
                          <a:latin typeface="Calibri"/>
                        </a:rPr>
                        <a:t>+0.16</a:t>
                      </a:r>
                    </a:p>
                  </a:txBody>
                  <a:tcPr>
                    <a:solidFill>
                      <a:srgbClr val="FFFFFF"/>
                    </a:solidFill>
                  </a:tcPr>
                </a:tc>
                <a:tc>
                  <a:txBody>
                    <a:bodyPr/>
                    <a:lstStyle/>
                    <a:p>
                      <a:r>
                        <a:rPr sz="1400">
                          <a:solidFill>
                            <a:srgbClr val="1C1C1A"/>
                          </a:solidFill>
                          <a:latin typeface="Calibri"/>
                        </a:rPr>
                        <a:t>0.333</a:t>
                      </a:r>
                    </a:p>
                  </a:txBody>
                  <a:tcPr>
                    <a:solidFill>
                      <a:srgbClr val="FFFFFF"/>
                    </a:solidFill>
                  </a:tcPr>
                </a:tc>
              </a:tr>
              <a:tr h="384048">
                <a:tc>
                  <a:txBody>
                    <a:bodyPr/>
                    <a:lstStyle/>
                    <a:p>
                      <a:r>
                        <a:rPr sz="1400">
                          <a:solidFill>
                            <a:srgbClr val="1C1C1A"/>
                          </a:solidFill>
                          <a:latin typeface="Calibri"/>
                        </a:rPr>
                        <a:t>Pitch range</a:t>
                      </a:r>
                    </a:p>
                  </a:txBody>
                  <a:tcPr>
                    <a:solidFill>
                      <a:srgbClr val="F1F4FA"/>
                    </a:solidFill>
                  </a:tcPr>
                </a:tc>
                <a:tc>
                  <a:txBody>
                    <a:bodyPr/>
                    <a:lstStyle/>
                    <a:p>
                      <a:r>
                        <a:rPr sz="1400">
                          <a:solidFill>
                            <a:srgbClr val="1C1C1A"/>
                          </a:solidFill>
                          <a:latin typeface="Calibri"/>
                        </a:rPr>
                        <a:t>+0.12</a:t>
                      </a:r>
                    </a:p>
                  </a:txBody>
                  <a:tcPr>
                    <a:solidFill>
                      <a:srgbClr val="F1F4FA"/>
                    </a:solidFill>
                  </a:tcPr>
                </a:tc>
                <a:tc>
                  <a:txBody>
                    <a:bodyPr/>
                    <a:lstStyle/>
                    <a:p>
                      <a:r>
                        <a:rPr sz="1400">
                          <a:solidFill>
                            <a:srgbClr val="1C1C1A"/>
                          </a:solidFill>
                          <a:latin typeface="Calibri"/>
                        </a:rPr>
                        <a:t>0.466</a:t>
                      </a:r>
                    </a:p>
                  </a:txBody>
                  <a:tcPr>
                    <a:solidFill>
                      <a:srgbClr val="F1F4FA"/>
                    </a:solidFill>
                  </a:tcPr>
                </a:tc>
                <a:tc>
                  <a:txBody>
                    <a:bodyPr/>
                    <a:lstStyle/>
                    <a:p>
                      <a:r>
                        <a:rPr sz="1400">
                          <a:solidFill>
                            <a:srgbClr val="1C1C1A"/>
                          </a:solidFill>
                          <a:latin typeface="Calibri"/>
                        </a:rPr>
                        <a:t>+0.03</a:t>
                      </a:r>
                    </a:p>
                  </a:txBody>
                  <a:tcPr>
                    <a:solidFill>
                      <a:srgbClr val="F1F4FA"/>
                    </a:solidFill>
                  </a:tcPr>
                </a:tc>
                <a:tc>
                  <a:txBody>
                    <a:bodyPr/>
                    <a:lstStyle/>
                    <a:p>
                      <a:r>
                        <a:rPr sz="1400">
                          <a:solidFill>
                            <a:srgbClr val="1C1C1A"/>
                          </a:solidFill>
                          <a:latin typeface="Calibri"/>
                        </a:rPr>
                        <a:t>0.849</a:t>
                      </a:r>
                    </a:p>
                  </a:txBody>
                  <a:tcPr>
                    <a:solidFill>
                      <a:srgbClr val="F1F4FA"/>
                    </a:solidFill>
                  </a:tcPr>
                </a:tc>
              </a:tr>
              <a:tr h="384048">
                <a:tc>
                  <a:txBody>
                    <a:bodyPr/>
                    <a:lstStyle/>
                    <a:p>
                      <a:r>
                        <a:rPr sz="1400">
                          <a:solidFill>
                            <a:srgbClr val="1C1C1A"/>
                          </a:solidFill>
                          <a:latin typeface="Calibri"/>
                        </a:rPr>
                        <a:t>Loudness</a:t>
                      </a:r>
                    </a:p>
                  </a:txBody>
                  <a:tcPr>
                    <a:solidFill>
                      <a:srgbClr val="FFFFFF"/>
                    </a:solidFill>
                  </a:tcPr>
                </a:tc>
                <a:tc>
                  <a:txBody>
                    <a:bodyPr/>
                    <a:lstStyle/>
                    <a:p>
                      <a:r>
                        <a:rPr sz="1400">
                          <a:solidFill>
                            <a:srgbClr val="1C1C1A"/>
                          </a:solidFill>
                          <a:latin typeface="Calibri"/>
                        </a:rPr>
                        <a:t>+0.25</a:t>
                      </a:r>
                    </a:p>
                  </a:txBody>
                  <a:tcPr>
                    <a:solidFill>
                      <a:srgbClr val="FFFFFF"/>
                    </a:solidFill>
                  </a:tcPr>
                </a:tc>
                <a:tc>
                  <a:txBody>
                    <a:bodyPr/>
                    <a:lstStyle/>
                    <a:p>
                      <a:r>
                        <a:rPr sz="1400">
                          <a:solidFill>
                            <a:srgbClr val="1C1C1A"/>
                          </a:solidFill>
                          <a:latin typeface="Calibri"/>
                        </a:rPr>
                        <a:t>0.120</a:t>
                      </a:r>
                    </a:p>
                  </a:txBody>
                  <a:tcPr>
                    <a:solidFill>
                      <a:srgbClr val="FFFFFF"/>
                    </a:solidFill>
                  </a:tcPr>
                </a:tc>
                <a:tc>
                  <a:txBody>
                    <a:bodyPr/>
                    <a:lstStyle/>
                    <a:p>
                      <a:r>
                        <a:rPr sz="1400">
                          <a:solidFill>
                            <a:srgbClr val="1C1C1A"/>
                          </a:solidFill>
                          <a:latin typeface="Calibri"/>
                        </a:rPr>
                        <a:t>+0.37</a:t>
                      </a:r>
                    </a:p>
                  </a:txBody>
                  <a:tcPr>
                    <a:solidFill>
                      <a:srgbClr val="FFFFFF"/>
                    </a:solidFill>
                  </a:tcPr>
                </a:tc>
                <a:tc>
                  <a:txBody>
                    <a:bodyPr/>
                    <a:lstStyle/>
                    <a:p>
                      <a:r>
                        <a:rPr sz="1400">
                          <a:solidFill>
                            <a:srgbClr val="1C1C1A"/>
                          </a:solidFill>
                          <a:latin typeface="Calibri"/>
                        </a:rPr>
                        <a:t>0.017</a:t>
                      </a:r>
                    </a:p>
                  </a:txBody>
                  <a:tcPr>
                    <a:solidFill>
                      <a:srgbClr val="FFFFFF"/>
                    </a:solidFill>
                  </a:tcPr>
                </a:tc>
              </a:tr>
              <a:tr h="384048">
                <a:tc>
                  <a:txBody>
                    <a:bodyPr/>
                    <a:lstStyle/>
                    <a:p>
                      <a:r>
                        <a:rPr sz="1400">
                          <a:solidFill>
                            <a:srgbClr val="1C1C1A"/>
                          </a:solidFill>
                          <a:latin typeface="Calibri"/>
                        </a:rPr>
                        <a:t>Word duration</a:t>
                      </a:r>
                    </a:p>
                  </a:txBody>
                  <a:tcPr>
                    <a:solidFill>
                      <a:srgbClr val="F1F4FA"/>
                    </a:solidFill>
                  </a:tcPr>
                </a:tc>
                <a:tc>
                  <a:txBody>
                    <a:bodyPr/>
                    <a:lstStyle/>
                    <a:p>
                      <a:r>
                        <a:rPr sz="1400">
                          <a:solidFill>
                            <a:srgbClr val="1C1C1A"/>
                          </a:solidFill>
                          <a:latin typeface="Calibri"/>
                        </a:rPr>
                        <a:t>+0.15</a:t>
                      </a:r>
                    </a:p>
                  </a:txBody>
                  <a:tcPr>
                    <a:solidFill>
                      <a:srgbClr val="F1F4FA"/>
                    </a:solidFill>
                  </a:tcPr>
                </a:tc>
                <a:tc>
                  <a:txBody>
                    <a:bodyPr/>
                    <a:lstStyle/>
                    <a:p>
                      <a:r>
                        <a:rPr sz="1400">
                          <a:solidFill>
                            <a:srgbClr val="1C1C1A"/>
                          </a:solidFill>
                          <a:latin typeface="Calibri"/>
                        </a:rPr>
                        <a:t>0.356</a:t>
                      </a:r>
                    </a:p>
                  </a:txBody>
                  <a:tcPr>
                    <a:solidFill>
                      <a:srgbClr val="F1F4FA"/>
                    </a:solidFill>
                  </a:tcPr>
                </a:tc>
                <a:tc>
                  <a:txBody>
                    <a:bodyPr/>
                    <a:lstStyle/>
                    <a:p>
                      <a:r>
                        <a:rPr sz="1400">
                          <a:solidFill>
                            <a:srgbClr val="1C1C1A"/>
                          </a:solidFill>
                          <a:latin typeface="Calibri"/>
                        </a:rPr>
                        <a:t>+0.03</a:t>
                      </a:r>
                    </a:p>
                  </a:txBody>
                  <a:tcPr>
                    <a:solidFill>
                      <a:srgbClr val="F1F4FA"/>
                    </a:solidFill>
                  </a:tcPr>
                </a:tc>
                <a:tc>
                  <a:txBody>
                    <a:bodyPr/>
                    <a:lstStyle/>
                    <a:p>
                      <a:r>
                        <a:rPr sz="1400">
                          <a:solidFill>
                            <a:srgbClr val="1C1C1A"/>
                          </a:solidFill>
                          <a:latin typeface="Calibri"/>
                        </a:rPr>
                        <a:t>0.843</a:t>
                      </a:r>
                    </a:p>
                  </a:txBody>
                  <a:tcPr>
                    <a:solidFill>
                      <a:srgbClr val="F1F4FA"/>
                    </a:solidFill>
                  </a:tcPr>
                </a:tc>
              </a:tr>
              <a:tr h="384048">
                <a:tc>
                  <a:txBody>
                    <a:bodyPr/>
                    <a:lstStyle/>
                    <a:p>
                      <a:r>
                        <a:rPr sz="1400">
                          <a:solidFill>
                            <a:srgbClr val="1C1C1A"/>
                          </a:solidFill>
                          <a:latin typeface="Calibri"/>
                        </a:rPr>
                        <a:t>Brightness of the sound</a:t>
                      </a:r>
                    </a:p>
                  </a:txBody>
                  <a:tcPr>
                    <a:solidFill>
                      <a:srgbClr val="FFFFFF"/>
                    </a:solidFill>
                  </a:tcPr>
                </a:tc>
                <a:tc>
                  <a:txBody>
                    <a:bodyPr/>
                    <a:lstStyle/>
                    <a:p>
                      <a:r>
                        <a:rPr sz="1400">
                          <a:solidFill>
                            <a:srgbClr val="1C1C1A"/>
                          </a:solidFill>
                          <a:latin typeface="Calibri"/>
                        </a:rPr>
                        <a:t>+0.35</a:t>
                      </a:r>
                    </a:p>
                  </a:txBody>
                  <a:tcPr>
                    <a:solidFill>
                      <a:srgbClr val="FFFFFF"/>
                    </a:solidFill>
                  </a:tcPr>
                </a:tc>
                <a:tc>
                  <a:txBody>
                    <a:bodyPr/>
                    <a:lstStyle/>
                    <a:p>
                      <a:r>
                        <a:rPr sz="1400">
                          <a:solidFill>
                            <a:srgbClr val="1C1C1A"/>
                          </a:solidFill>
                          <a:latin typeface="Calibri"/>
                        </a:rPr>
                        <a:t>0.027</a:t>
                      </a:r>
                    </a:p>
                  </a:txBody>
                  <a:tcPr>
                    <a:solidFill>
                      <a:srgbClr val="FFFFFF"/>
                    </a:solidFill>
                  </a:tcPr>
                </a:tc>
                <a:tc>
                  <a:txBody>
                    <a:bodyPr/>
                    <a:lstStyle/>
                    <a:p>
                      <a:r>
                        <a:rPr sz="1400">
                          <a:solidFill>
                            <a:srgbClr val="1C1C1A"/>
                          </a:solidFill>
                          <a:latin typeface="Calibri"/>
                        </a:rPr>
                        <a:t>+0.27</a:t>
                      </a:r>
                    </a:p>
                  </a:txBody>
                  <a:tcPr>
                    <a:solidFill>
                      <a:srgbClr val="FFFFFF"/>
                    </a:solidFill>
                  </a:tcPr>
                </a:tc>
                <a:tc>
                  <a:txBody>
                    <a:bodyPr/>
                    <a:lstStyle/>
                    <a:p>
                      <a:r>
                        <a:rPr sz="1400">
                          <a:solidFill>
                            <a:srgbClr val="1C1C1A"/>
                          </a:solidFill>
                          <a:latin typeface="Calibri"/>
                        </a:rPr>
                        <a:t>0.094</a:t>
                      </a:r>
                    </a:p>
                  </a:txBody>
                  <a:tcPr>
                    <a:solidFill>
                      <a:srgbClr val="FFFFFF"/>
                    </a:solidFill>
                  </a:tcPr>
                </a:tc>
              </a:tr>
              <a:tr h="384048">
                <a:tc>
                  <a:txBody>
                    <a:bodyPr/>
                    <a:lstStyle/>
                    <a:p>
                      <a:r>
                        <a:rPr sz="1400">
                          <a:solidFill>
                            <a:srgbClr val="1C1C1A"/>
                          </a:solidFill>
                          <a:latin typeface="Calibri"/>
                        </a:rPr>
                        <a:t>Share of voiced sound</a:t>
                      </a:r>
                    </a:p>
                  </a:txBody>
                  <a:tcPr>
                    <a:solidFill>
                      <a:srgbClr val="F1F4FA"/>
                    </a:solidFill>
                  </a:tcPr>
                </a:tc>
                <a:tc>
                  <a:txBody>
                    <a:bodyPr/>
                    <a:lstStyle/>
                    <a:p>
                      <a:r>
                        <a:rPr sz="1400">
                          <a:solidFill>
                            <a:srgbClr val="1C1C1A"/>
                          </a:solidFill>
                          <a:latin typeface="Calibri"/>
                        </a:rPr>
                        <a:t>+0.02</a:t>
                      </a:r>
                    </a:p>
                  </a:txBody>
                  <a:tcPr>
                    <a:solidFill>
                      <a:srgbClr val="F1F4FA"/>
                    </a:solidFill>
                  </a:tcPr>
                </a:tc>
                <a:tc>
                  <a:txBody>
                    <a:bodyPr/>
                    <a:lstStyle/>
                    <a:p>
                      <a:r>
                        <a:rPr sz="1400">
                          <a:solidFill>
                            <a:srgbClr val="1C1C1A"/>
                          </a:solidFill>
                          <a:latin typeface="Calibri"/>
                        </a:rPr>
                        <a:t>0.911</a:t>
                      </a:r>
                    </a:p>
                  </a:txBody>
                  <a:tcPr>
                    <a:solidFill>
                      <a:srgbClr val="F1F4FA"/>
                    </a:solidFill>
                  </a:tcPr>
                </a:tc>
                <a:tc>
                  <a:txBody>
                    <a:bodyPr/>
                    <a:lstStyle/>
                    <a:p>
                      <a:r>
                        <a:rPr sz="1400">
                          <a:solidFill>
                            <a:srgbClr val="1C1C1A"/>
                          </a:solidFill>
                          <a:latin typeface="Calibri"/>
                        </a:rPr>
                        <a:t>+0.13</a:t>
                      </a:r>
                    </a:p>
                  </a:txBody>
                  <a:tcPr>
                    <a:solidFill>
                      <a:srgbClr val="F1F4FA"/>
                    </a:solidFill>
                  </a:tcPr>
                </a:tc>
                <a:tc>
                  <a:txBody>
                    <a:bodyPr/>
                    <a:lstStyle/>
                    <a:p>
                      <a:r>
                        <a:rPr sz="1400">
                          <a:solidFill>
                            <a:srgbClr val="1C1C1A"/>
                          </a:solidFill>
                          <a:latin typeface="Calibri"/>
                        </a:rPr>
                        <a:t>0.436</a:t>
                      </a:r>
                    </a:p>
                  </a:txBody>
                  <a:tcPr>
                    <a:solidFill>
                      <a:srgbClr val="F1F4FA"/>
                    </a:solidFill>
                  </a:tcPr>
                </a:tc>
              </a:tr>
            </a:tbl>
          </a:graphicData>
        </a:graphic>
      </p:graphicFrame>
      <p:sp>
        <p:nvSpPr>
          <p:cNvPr id="8" name="TextBox 7"/>
          <p:cNvSpPr txBox="1"/>
          <p:nvPr/>
        </p:nvSpPr>
        <p:spPr>
          <a:xfrm>
            <a:off x="7589520" y="1783080"/>
            <a:ext cx="4069080" cy="4480560"/>
          </a:xfrm>
          <a:prstGeom prst="rect">
            <a:avLst/>
          </a:prstGeom>
          <a:noFill/>
        </p:spPr>
        <p:txBody>
          <a:bodyPr wrap="square" anchor="t" lIns="36576" rIns="36576">
            <a:spAutoFit/>
          </a:bodyPr>
          <a:lstStyle/>
          <a:p>
            <a:pPr algn="l" marL="274320" indent="-274320">
              <a:spcAft>
                <a:spcPts val="600"/>
              </a:spcAft>
              <a:buChar char="•"/>
            </a:pPr>
            <a:r>
              <a:rPr sz="1500" b="0">
                <a:solidFill>
                  <a:srgbClr val="1C1C1A"/>
                </a:solidFill>
                <a:latin typeface="Calibri"/>
              </a:rPr>
              <a:t>ρ is a correlation: 0 means no link, +1 or −1 means a perfect link</a:t>
            </a:r>
          </a:p>
          <a:p>
            <a:pPr algn="l" marL="274320" indent="-274320">
              <a:spcAft>
                <a:spcPts val="600"/>
              </a:spcAft>
              <a:buChar char="•"/>
            </a:pPr>
            <a:r>
              <a:rPr sz="1500" b="0">
                <a:solidFill>
                  <a:srgbClr val="1C1C1A"/>
                </a:solidFill>
                <a:latin typeface="Calibri"/>
              </a:rPr>
              <a:t>The strongest link among the six is +0.37</a:t>
            </a:r>
          </a:p>
          <a:p>
            <a:pPr algn="l" marL="274320" indent="-274320">
              <a:spcAft>
                <a:spcPts val="600"/>
              </a:spcAft>
              <a:buChar char="•"/>
            </a:pPr>
            <a:r>
              <a:rPr sz="1500" b="0">
                <a:solidFill>
                  <a:srgbClr val="1C1C1A"/>
                </a:solidFill>
                <a:latin typeface="Calibri"/>
              </a:rPr>
              <a:t>None of the six is significant after the correction for testing many features</a:t>
            </a:r>
          </a:p>
          <a:p>
            <a:pPr algn="l" marL="274320" indent="-274320">
              <a:spcAft>
                <a:spcPts val="600"/>
              </a:spcAft>
              <a:buChar char="•"/>
            </a:pPr>
            <a:r>
              <a:rPr sz="1500" b="0">
                <a:solidFill>
                  <a:srgbClr val="1C1C1A"/>
                </a:solidFill>
                <a:latin typeface="Calibri"/>
              </a:rPr>
              <a:t>All 108 features: 0 significant for arousal, 1 for valence</a:t>
            </a:r>
          </a:p>
          <a:p>
            <a:pPr algn="l" marL="594360" indent="-274320">
              <a:spcAft>
                <a:spcPts val="600"/>
              </a:spcAft>
              <a:buChar char="–"/>
            </a:pPr>
            <a:r>
              <a:rPr sz="1300" b="0">
                <a:solidFill>
                  <a:srgbClr val="1C1C1A"/>
                </a:solidFill>
                <a:latin typeface="Calibri"/>
              </a:rPr>
              <a:t>rms_db_iqr (ρ = −0.54)</a:t>
            </a:r>
          </a:p>
          <a:p>
            <a:pPr algn="l" marL="274320" indent="-274320">
              <a:spcAft>
                <a:spcPts val="600"/>
              </a:spcAft>
              <a:buChar char="•"/>
            </a:pPr>
            <a:r>
              <a:rPr sz="1500" b="0">
                <a:solidFill>
                  <a:srgbClr val="1C1C1A"/>
                </a:solidFill>
                <a:latin typeface="Calibri"/>
              </a:rPr>
              <a:t>Those were not chosen in advance, and their meaning is unclear</a:t>
            </a:r>
          </a:p>
          <a:p>
            <a:pPr algn="l" marL="274320" indent="-274320">
              <a:spcAft>
                <a:spcPts val="600"/>
              </a:spcAft>
              <a:buChar char="•"/>
            </a:pPr>
            <a:r>
              <a:rPr sz="1500" b="0">
                <a:solidFill>
                  <a:srgbClr val="1C1C1A"/>
                </a:solidFill>
                <a:latin typeface="Calibri"/>
              </a:rPr>
              <a:t>With 40 participants, only links of about 0.44 or stronger can be found reliably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How to read our results</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Five ideas you need for the next slides</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7</a:t>
            </a:r>
          </a:p>
        </p:txBody>
      </p:sp>
      <p:graphicFrame>
        <p:nvGraphicFramePr>
          <p:cNvPr id="7" name="Table 6"/>
          <p:cNvGraphicFramePr>
            <a:graphicFrameLocks noGrp="1"/>
          </p:cNvGraphicFramePr>
          <p:nvPr/>
        </p:nvGraphicFramePr>
        <p:xfrm>
          <a:off x="548640" y="1783080"/>
          <a:ext cx="11091672" cy="4389120"/>
        </p:xfrm>
        <a:graphic>
          <a:graphicData uri="http://schemas.openxmlformats.org/drawingml/2006/table">
            <a:tbl>
              <a:tblPr firstRow="1" bandRow="1">
                <a:tableStyleId>{5C22544A-7EE6-4342-B048-85BDC9FD1C3A}</a:tableStyleId>
              </a:tblPr>
              <a:tblGrid>
                <a:gridCol w="2286000"/>
                <a:gridCol w="5394960"/>
                <a:gridCol w="3410712"/>
              </a:tblGrid>
              <a:tr h="731520">
                <a:tc>
                  <a:txBody>
                    <a:bodyPr/>
                    <a:lstStyle/>
                    <a:p>
                      <a:r>
                        <a:rPr sz="1500" b="1">
                          <a:solidFill>
                            <a:srgbClr val="FFFFFF"/>
                          </a:solidFill>
                          <a:latin typeface="Calibri"/>
                        </a:rPr>
                        <a:t>Idea</a:t>
                      </a:r>
                    </a:p>
                  </a:txBody>
                  <a:tcPr>
                    <a:solidFill>
                      <a:srgbClr val="2563C9"/>
                    </a:solidFill>
                  </a:tcPr>
                </a:tc>
                <a:tc>
                  <a:txBody>
                    <a:bodyPr/>
                    <a:lstStyle/>
                    <a:p>
                      <a:r>
                        <a:rPr sz="1500" b="1">
                          <a:solidFill>
                            <a:srgbClr val="FFFFFF"/>
                          </a:solidFill>
                          <a:latin typeface="Calibri"/>
                        </a:rPr>
                        <a:t>What it means</a:t>
                      </a:r>
                    </a:p>
                  </a:txBody>
                  <a:tcPr>
                    <a:solidFill>
                      <a:srgbClr val="2563C9"/>
                    </a:solidFill>
                  </a:tcPr>
                </a:tc>
                <a:tc>
                  <a:txBody>
                    <a:bodyPr/>
                    <a:lstStyle/>
                    <a:p>
                      <a:r>
                        <a:rPr sz="1500" b="1">
                          <a:solidFill>
                            <a:srgbClr val="FFFFFF"/>
                          </a:solidFill>
                          <a:latin typeface="Calibri"/>
                        </a:rPr>
                        <a:t>In our study</a:t>
                      </a:r>
                    </a:p>
                  </a:txBody>
                  <a:tcPr>
                    <a:solidFill>
                      <a:srgbClr val="2563C9"/>
                    </a:solidFill>
                  </a:tcPr>
                </a:tc>
              </a:tr>
              <a:tr h="731520">
                <a:tc>
                  <a:txBody>
                    <a:bodyPr/>
                    <a:lstStyle/>
                    <a:p>
                      <a:r>
                        <a:rPr sz="1500">
                          <a:solidFill>
                            <a:srgbClr val="1C1C1A"/>
                          </a:solidFill>
                          <a:latin typeface="Calibri"/>
                        </a:rPr>
                        <a:t>Chance</a:t>
                      </a:r>
                    </a:p>
                  </a:txBody>
                  <a:tcPr>
                    <a:solidFill>
                      <a:srgbClr val="FFFFFF"/>
                    </a:solidFill>
                  </a:tcPr>
                </a:tc>
                <a:tc>
                  <a:txBody>
                    <a:bodyPr/>
                    <a:lstStyle/>
                    <a:p>
                      <a:r>
                        <a:rPr sz="1500">
                          <a:solidFill>
                            <a:srgbClr val="1C1C1A"/>
                          </a:solidFill>
                          <a:latin typeface="Calibri"/>
                        </a:rPr>
                        <a:t>The score you get by pure guessing</a:t>
                      </a:r>
                    </a:p>
                  </a:txBody>
                  <a:tcPr>
                    <a:solidFill>
                      <a:srgbClr val="FFFFFF"/>
                    </a:solidFill>
                  </a:tcPr>
                </a:tc>
                <a:tc>
                  <a:txBody>
                    <a:bodyPr/>
                    <a:lstStyle/>
                    <a:p>
                      <a:r>
                        <a:rPr sz="1500">
                          <a:solidFill>
                            <a:srgbClr val="1C1C1A"/>
                          </a:solidFill>
                          <a:latin typeface="Calibri"/>
                        </a:rPr>
                        <a:t>0.33 with 3 groups · 0.50 with 2 groups</a:t>
                      </a:r>
                    </a:p>
                  </a:txBody>
                  <a:tcPr>
                    <a:solidFill>
                      <a:srgbClr val="FFFFFF"/>
                    </a:solidFill>
                  </a:tcPr>
                </a:tc>
              </a:tr>
              <a:tr h="731520">
                <a:tc>
                  <a:txBody>
                    <a:bodyPr/>
                    <a:lstStyle/>
                    <a:p>
                      <a:r>
                        <a:rPr sz="1500">
                          <a:solidFill>
                            <a:srgbClr val="1C1C1A"/>
                          </a:solidFill>
                          <a:latin typeface="Calibri"/>
                        </a:rPr>
                        <a:t>Balanced accuracy</a:t>
                      </a:r>
                    </a:p>
                  </a:txBody>
                  <a:tcPr>
                    <a:solidFill>
                      <a:srgbClr val="F1F4FA"/>
                    </a:solidFill>
                  </a:tcPr>
                </a:tc>
                <a:tc>
                  <a:txBody>
                    <a:bodyPr/>
                    <a:lstStyle/>
                    <a:p>
                      <a:r>
                        <a:rPr sz="1500">
                          <a:solidFill>
                            <a:srgbClr val="1C1C1A"/>
                          </a:solidFill>
                          <a:latin typeface="Calibri"/>
                        </a:rPr>
                        <a:t>The average of the scores for each group, so always giving the most common answer does not help</a:t>
                      </a:r>
                    </a:p>
                  </a:txBody>
                  <a:tcPr>
                    <a:solidFill>
                      <a:srgbClr val="F1F4FA"/>
                    </a:solidFill>
                  </a:tcPr>
                </a:tc>
                <a:tc>
                  <a:txBody>
                    <a:bodyPr/>
                    <a:lstStyle/>
                    <a:p>
                      <a:r>
                        <a:rPr sz="1500">
                          <a:solidFill>
                            <a:srgbClr val="1C1C1A"/>
                          </a:solidFill>
                          <a:latin typeface="Calibri"/>
                        </a:rPr>
                        <a:t>From 0 to 1. Higher is better</a:t>
                      </a:r>
                    </a:p>
                  </a:txBody>
                  <a:tcPr>
                    <a:solidFill>
                      <a:srgbClr val="F1F4FA"/>
                    </a:solidFill>
                  </a:tcPr>
                </a:tc>
              </a:tr>
              <a:tr h="731520">
                <a:tc>
                  <a:txBody>
                    <a:bodyPr/>
                    <a:lstStyle/>
                    <a:p>
                      <a:r>
                        <a:rPr sz="1500">
                          <a:solidFill>
                            <a:srgbClr val="1C1C1A"/>
                          </a:solidFill>
                          <a:latin typeface="Calibri"/>
                        </a:rPr>
                        <a:t>95% interval</a:t>
                      </a:r>
                    </a:p>
                  </a:txBody>
                  <a:tcPr>
                    <a:solidFill>
                      <a:srgbClr val="FFFFFF"/>
                    </a:solidFill>
                  </a:tcPr>
                </a:tc>
                <a:tc>
                  <a:txBody>
                    <a:bodyPr/>
                    <a:lstStyle/>
                    <a:p>
                      <a:r>
                        <a:rPr sz="1500">
                          <a:solidFill>
                            <a:srgbClr val="1C1C1A"/>
                          </a:solidFill>
                          <a:latin typeface="Calibri"/>
                        </a:rPr>
                        <a:t>The range where the true score probably lies</a:t>
                      </a:r>
                    </a:p>
                  </a:txBody>
                  <a:tcPr>
                    <a:solidFill>
                      <a:srgbClr val="FFFFFF"/>
                    </a:solidFill>
                  </a:tcPr>
                </a:tc>
                <a:tc>
                  <a:txBody>
                    <a:bodyPr/>
                    <a:lstStyle/>
                    <a:p>
                      <a:r>
                        <a:rPr sz="1500">
                          <a:solidFill>
                            <a:srgbClr val="1C1C1A"/>
                          </a:solidFill>
                          <a:latin typeface="Calibri"/>
                        </a:rPr>
                        <a:t>Wide, because 40 participants are few</a:t>
                      </a:r>
                    </a:p>
                  </a:txBody>
                  <a:tcPr>
                    <a:solidFill>
                      <a:srgbClr val="FFFFFF"/>
                    </a:solidFill>
                  </a:tcPr>
                </a:tc>
              </a:tr>
              <a:tr h="731520">
                <a:tc>
                  <a:txBody>
                    <a:bodyPr/>
                    <a:lstStyle/>
                    <a:p>
                      <a:r>
                        <a:rPr sz="1500">
                          <a:solidFill>
                            <a:srgbClr val="1C1C1A"/>
                          </a:solidFill>
                          <a:latin typeface="Calibri"/>
                        </a:rPr>
                        <a:t>p-value</a:t>
                      </a:r>
                    </a:p>
                  </a:txBody>
                  <a:tcPr>
                    <a:solidFill>
                      <a:srgbClr val="F1F4FA"/>
                    </a:solidFill>
                  </a:tcPr>
                </a:tc>
                <a:tc>
                  <a:txBody>
                    <a:bodyPr/>
                    <a:lstStyle/>
                    <a:p>
                      <a:r>
                        <a:rPr sz="1500">
                          <a:solidFill>
                            <a:srgbClr val="1C1C1A"/>
                          </a:solidFill>
                          <a:latin typeface="Calibri"/>
                        </a:rPr>
                        <a:t>How often shuffled ratings, which mean nothing, score as high as the real ratings</a:t>
                      </a:r>
                    </a:p>
                  </a:txBody>
                  <a:tcPr>
                    <a:solidFill>
                      <a:srgbClr val="F1F4FA"/>
                    </a:solidFill>
                  </a:tcPr>
                </a:tc>
                <a:tc>
                  <a:txBody>
                    <a:bodyPr/>
                    <a:lstStyle/>
                    <a:p>
                      <a:r>
                        <a:rPr sz="1500">
                          <a:solidFill>
                            <a:srgbClr val="1C1C1A"/>
                          </a:solidFill>
                          <a:latin typeface="Calibri"/>
                        </a:rPr>
                        <a:t>Below 0.05 means it is unlikely to be luck</a:t>
                      </a:r>
                    </a:p>
                  </a:txBody>
                  <a:tcPr>
                    <a:solidFill>
                      <a:srgbClr val="F1F4FA"/>
                    </a:solidFill>
                  </a:tcPr>
                </a:tc>
              </a:tr>
              <a:tr h="731520">
                <a:tc>
                  <a:txBody>
                    <a:bodyPr/>
                    <a:lstStyle/>
                    <a:p>
                      <a:r>
                        <a:rPr sz="1500">
                          <a:solidFill>
                            <a:srgbClr val="1C1C1A"/>
                          </a:solidFill>
                          <a:latin typeface="Calibri"/>
                        </a:rPr>
                        <a:t>Correction (Holm)</a:t>
                      </a:r>
                    </a:p>
                  </a:txBody>
                  <a:tcPr>
                    <a:solidFill>
                      <a:srgbClr val="FFFFFF"/>
                    </a:solidFill>
                  </a:tcPr>
                </a:tc>
                <a:tc>
                  <a:txBody>
                    <a:bodyPr/>
                    <a:lstStyle/>
                    <a:p>
                      <a:r>
                        <a:rPr sz="1500">
                          <a:solidFill>
                            <a:srgbClr val="1C1C1A"/>
                          </a:solidFill>
                          <a:latin typeface="Calibri"/>
                        </a:rPr>
                        <a:t>With many tests, some look good by luck. The correction raises the p-values to account for that</a:t>
                      </a:r>
                    </a:p>
                  </a:txBody>
                  <a:tcPr>
                    <a:solidFill>
                      <a:srgbClr val="FFFFFF"/>
                    </a:solidFill>
                  </a:tcPr>
                </a:tc>
                <a:tc>
                  <a:txBody>
                    <a:bodyPr/>
                    <a:lstStyle/>
                    <a:p>
                      <a:r>
                        <a:rPr sz="1500">
                          <a:solidFill>
                            <a:srgbClr val="1C1C1A"/>
                          </a:solidFill>
                          <a:latin typeface="Calibri"/>
                        </a:rPr>
                        <a:t>9 tests. A result counts only if p stays below 0.05</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No model beats chance after correction</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The best of three models for each target, always tested on people the model never heard</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8</a:t>
            </a:r>
          </a:p>
        </p:txBody>
      </p:sp>
      <p:graphicFrame>
        <p:nvGraphicFramePr>
          <p:cNvPr id="7" name="Table 6"/>
          <p:cNvGraphicFramePr>
            <a:graphicFrameLocks noGrp="1"/>
          </p:cNvGraphicFramePr>
          <p:nvPr/>
        </p:nvGraphicFramePr>
        <p:xfrm>
          <a:off x="548640" y="1783080"/>
          <a:ext cx="11091672" cy="1828800"/>
        </p:xfrm>
        <a:graphic>
          <a:graphicData uri="http://schemas.openxmlformats.org/drawingml/2006/table">
            <a:tbl>
              <a:tblPr firstRow="1" bandRow="1">
                <a:tableStyleId>{5C22544A-7EE6-4342-B048-85BDC9FD1C3A}</a:tableStyleId>
              </a:tblPr>
              <a:tblGrid>
                <a:gridCol w="3017520"/>
                <a:gridCol w="1737360"/>
                <a:gridCol w="2834640"/>
                <a:gridCol w="914400"/>
                <a:gridCol w="1005840"/>
                <a:gridCol w="1581912"/>
              </a:tblGrid>
              <a:tr h="457200">
                <a:tc>
                  <a:txBody>
                    <a:bodyPr/>
                    <a:lstStyle/>
                    <a:p>
                      <a:r>
                        <a:rPr sz="1500" b="1">
                          <a:solidFill>
                            <a:srgbClr val="FFFFFF"/>
                          </a:solidFill>
                          <a:latin typeface="Calibri"/>
                        </a:rPr>
                        <a:t>Target</a:t>
                      </a:r>
                    </a:p>
                  </a:txBody>
                  <a:tcPr>
                    <a:solidFill>
                      <a:srgbClr val="2563C9"/>
                    </a:solidFill>
                  </a:tcPr>
                </a:tc>
                <a:tc>
                  <a:txBody>
                    <a:bodyPr/>
                    <a:lstStyle/>
                    <a:p>
                      <a:r>
                        <a:rPr sz="1500" b="1">
                          <a:solidFill>
                            <a:srgbClr val="FFFFFF"/>
                          </a:solidFill>
                          <a:latin typeface="Calibri"/>
                        </a:rPr>
                        <a:t>Best model</a:t>
                      </a:r>
                    </a:p>
                  </a:txBody>
                  <a:tcPr>
                    <a:solidFill>
                      <a:srgbClr val="2563C9"/>
                    </a:solidFill>
                  </a:tcPr>
                </a:tc>
                <a:tc>
                  <a:txBody>
                    <a:bodyPr/>
                    <a:lstStyle/>
                    <a:p>
                      <a:r>
                        <a:rPr sz="1500" b="1">
                          <a:solidFill>
                            <a:srgbClr val="FFFFFF"/>
                          </a:solidFill>
                          <a:latin typeface="Calibri"/>
                        </a:rPr>
                        <a:t>Balanced accuracy [95% interval]</a:t>
                      </a:r>
                    </a:p>
                  </a:txBody>
                  <a:tcPr>
                    <a:solidFill>
                      <a:srgbClr val="2563C9"/>
                    </a:solidFill>
                  </a:tcPr>
                </a:tc>
                <a:tc>
                  <a:txBody>
                    <a:bodyPr/>
                    <a:lstStyle/>
                    <a:p>
                      <a:r>
                        <a:rPr sz="1500" b="1">
                          <a:solidFill>
                            <a:srgbClr val="FFFFFF"/>
                          </a:solidFill>
                          <a:latin typeface="Calibri"/>
                        </a:rPr>
                        <a:t>Chance</a:t>
                      </a:r>
                    </a:p>
                  </a:txBody>
                  <a:tcPr>
                    <a:solidFill>
                      <a:srgbClr val="2563C9"/>
                    </a:solidFill>
                  </a:tcPr>
                </a:tc>
                <a:tc>
                  <a:txBody>
                    <a:bodyPr/>
                    <a:lstStyle/>
                    <a:p>
                      <a:r>
                        <a:rPr sz="1500" b="1">
                          <a:solidFill>
                            <a:srgbClr val="FFFFFF"/>
                          </a:solidFill>
                          <a:latin typeface="Calibri"/>
                        </a:rPr>
                        <a:t>p-value</a:t>
                      </a:r>
                    </a:p>
                  </a:txBody>
                  <a:tcPr>
                    <a:solidFill>
                      <a:srgbClr val="2563C9"/>
                    </a:solidFill>
                  </a:tcPr>
                </a:tc>
                <a:tc>
                  <a:txBody>
                    <a:bodyPr/>
                    <a:lstStyle/>
                    <a:p>
                      <a:r>
                        <a:rPr sz="1500" b="1">
                          <a:solidFill>
                            <a:srgbClr val="FFFFFF"/>
                          </a:solidFill>
                          <a:latin typeface="Calibri"/>
                        </a:rPr>
                        <a:t>p after correction</a:t>
                      </a:r>
                    </a:p>
                  </a:txBody>
                  <a:tcPr>
                    <a:solidFill>
                      <a:srgbClr val="2563C9"/>
                    </a:solidFill>
                  </a:tcPr>
                </a:tc>
              </a:tr>
              <a:tr h="457200">
                <a:tc>
                  <a:txBody>
                    <a:bodyPr/>
                    <a:lstStyle/>
                    <a:p>
                      <a:r>
                        <a:rPr sz="1500">
                          <a:solidFill>
                            <a:srgbClr val="1C1C1A"/>
                          </a:solidFill>
                          <a:latin typeface="Calibri"/>
                        </a:rPr>
                        <a:t>Arousal: low / moderate / high</a:t>
                      </a:r>
                    </a:p>
                  </a:txBody>
                  <a:tcPr>
                    <a:solidFill>
                      <a:srgbClr val="FFFFFF"/>
                    </a:solidFill>
                  </a:tcPr>
                </a:tc>
                <a:tc>
                  <a:txBody>
                    <a:bodyPr/>
                    <a:lstStyle/>
                    <a:p>
                      <a:r>
                        <a:rPr sz="1500">
                          <a:solidFill>
                            <a:srgbClr val="1C1C1A"/>
                          </a:solidFill>
                          <a:latin typeface="Calibri"/>
                        </a:rPr>
                        <a:t>Random forest</a:t>
                      </a:r>
                    </a:p>
                  </a:txBody>
                  <a:tcPr>
                    <a:solidFill>
                      <a:srgbClr val="FFFFFF"/>
                    </a:solidFill>
                  </a:tcPr>
                </a:tc>
                <a:tc>
                  <a:txBody>
                    <a:bodyPr/>
                    <a:lstStyle/>
                    <a:p>
                      <a:r>
                        <a:rPr sz="1500">
                          <a:solidFill>
                            <a:srgbClr val="1C1C1A"/>
                          </a:solidFill>
                          <a:latin typeface="Calibri"/>
                        </a:rPr>
                        <a:t>0.41 [0.29, 0.54]</a:t>
                      </a:r>
                    </a:p>
                  </a:txBody>
                  <a:tcPr>
                    <a:solidFill>
                      <a:srgbClr val="FFFFFF"/>
                    </a:solidFill>
                  </a:tcPr>
                </a:tc>
                <a:tc>
                  <a:txBody>
                    <a:bodyPr/>
                    <a:lstStyle/>
                    <a:p>
                      <a:r>
                        <a:rPr sz="1500">
                          <a:solidFill>
                            <a:srgbClr val="1C1C1A"/>
                          </a:solidFill>
                          <a:latin typeface="Calibri"/>
                        </a:rPr>
                        <a:t>0.33</a:t>
                      </a:r>
                    </a:p>
                  </a:txBody>
                  <a:tcPr>
                    <a:solidFill>
                      <a:srgbClr val="FFFFFF"/>
                    </a:solidFill>
                  </a:tcPr>
                </a:tc>
                <a:tc>
                  <a:txBody>
                    <a:bodyPr/>
                    <a:lstStyle/>
                    <a:p>
                      <a:r>
                        <a:rPr sz="1500">
                          <a:solidFill>
                            <a:srgbClr val="1C1C1A"/>
                          </a:solidFill>
                          <a:latin typeface="Calibri"/>
                        </a:rPr>
                        <a:t>0.134</a:t>
                      </a:r>
                    </a:p>
                  </a:txBody>
                  <a:tcPr>
                    <a:solidFill>
                      <a:srgbClr val="FFFFFF"/>
                    </a:solidFill>
                  </a:tcPr>
                </a:tc>
                <a:tc>
                  <a:txBody>
                    <a:bodyPr/>
                    <a:lstStyle/>
                    <a:p>
                      <a:r>
                        <a:rPr sz="1500">
                          <a:solidFill>
                            <a:srgbClr val="1C1C1A"/>
                          </a:solidFill>
                          <a:latin typeface="Calibri"/>
                        </a:rPr>
                        <a:t>0.802</a:t>
                      </a:r>
                    </a:p>
                  </a:txBody>
                  <a:tcPr>
                    <a:solidFill>
                      <a:srgbClr val="FFFFFF"/>
                    </a:solidFill>
                  </a:tcPr>
                </a:tc>
              </a:tr>
              <a:tr h="457200">
                <a:tc>
                  <a:txBody>
                    <a:bodyPr/>
                    <a:lstStyle/>
                    <a:p>
                      <a:r>
                        <a:rPr sz="1500">
                          <a:solidFill>
                            <a:srgbClr val="1C1C1A"/>
                          </a:solidFill>
                          <a:latin typeface="Calibri"/>
                        </a:rPr>
                        <a:t>Valence: not pleasant / pleasant</a:t>
                      </a:r>
                    </a:p>
                  </a:txBody>
                  <a:tcPr>
                    <a:solidFill>
                      <a:srgbClr val="F1F4FA"/>
                    </a:solidFill>
                  </a:tcPr>
                </a:tc>
                <a:tc>
                  <a:txBody>
                    <a:bodyPr/>
                    <a:lstStyle/>
                    <a:p>
                      <a:r>
                        <a:rPr sz="1500">
                          <a:solidFill>
                            <a:srgbClr val="1C1C1A"/>
                          </a:solidFill>
                          <a:latin typeface="Calibri"/>
                        </a:rPr>
                        <a:t>Random forest</a:t>
                      </a:r>
                    </a:p>
                  </a:txBody>
                  <a:tcPr>
                    <a:solidFill>
                      <a:srgbClr val="F1F4FA"/>
                    </a:solidFill>
                  </a:tcPr>
                </a:tc>
                <a:tc>
                  <a:txBody>
                    <a:bodyPr/>
                    <a:lstStyle/>
                    <a:p>
                      <a:r>
                        <a:rPr sz="1500">
                          <a:solidFill>
                            <a:srgbClr val="1C1C1A"/>
                          </a:solidFill>
                          <a:latin typeface="Calibri"/>
                        </a:rPr>
                        <a:t>0.70 [0.58, 0.82]</a:t>
                      </a:r>
                    </a:p>
                  </a:txBody>
                  <a:tcPr>
                    <a:solidFill>
                      <a:srgbClr val="F1F4FA"/>
                    </a:solidFill>
                  </a:tcPr>
                </a:tc>
                <a:tc>
                  <a:txBody>
                    <a:bodyPr/>
                    <a:lstStyle/>
                    <a:p>
                      <a:r>
                        <a:rPr sz="1500">
                          <a:solidFill>
                            <a:srgbClr val="1C1C1A"/>
                          </a:solidFill>
                          <a:latin typeface="Calibri"/>
                        </a:rPr>
                        <a:t>0.50</a:t>
                      </a:r>
                    </a:p>
                  </a:txBody>
                  <a:tcPr>
                    <a:solidFill>
                      <a:srgbClr val="F1F4FA"/>
                    </a:solidFill>
                  </a:tcPr>
                </a:tc>
                <a:tc>
                  <a:txBody>
                    <a:bodyPr/>
                    <a:lstStyle/>
                    <a:p>
                      <a:r>
                        <a:rPr sz="1500">
                          <a:solidFill>
                            <a:srgbClr val="1C1C1A"/>
                          </a:solidFill>
                          <a:latin typeface="Calibri"/>
                        </a:rPr>
                        <a:t>0.006</a:t>
                      </a:r>
                    </a:p>
                  </a:txBody>
                  <a:tcPr>
                    <a:solidFill>
                      <a:srgbClr val="F1F4FA"/>
                    </a:solidFill>
                  </a:tcPr>
                </a:tc>
                <a:tc>
                  <a:txBody>
                    <a:bodyPr/>
                    <a:lstStyle/>
                    <a:p>
                      <a:r>
                        <a:rPr sz="1500">
                          <a:solidFill>
                            <a:srgbClr val="1C1C1A"/>
                          </a:solidFill>
                          <a:latin typeface="Calibri"/>
                        </a:rPr>
                        <a:t>0.054</a:t>
                      </a:r>
                    </a:p>
                  </a:txBody>
                  <a:tcPr>
                    <a:solidFill>
                      <a:srgbClr val="F1F4FA"/>
                    </a:solidFill>
                  </a:tcPr>
                </a:tc>
              </a:tr>
              <a:tr h="457200">
                <a:tc>
                  <a:txBody>
                    <a:bodyPr/>
                    <a:lstStyle/>
                    <a:p>
                      <a:r>
                        <a:rPr sz="1500">
                          <a:solidFill>
                            <a:srgbClr val="1C1C1A"/>
                          </a:solidFill>
                          <a:latin typeface="Calibri"/>
                        </a:rPr>
                        <a:t>Arousal: not high / high</a:t>
                      </a:r>
                    </a:p>
                  </a:txBody>
                  <a:tcPr>
                    <a:solidFill>
                      <a:srgbClr val="FFFFFF"/>
                    </a:solidFill>
                  </a:tcPr>
                </a:tc>
                <a:tc>
                  <a:txBody>
                    <a:bodyPr/>
                    <a:lstStyle/>
                    <a:p>
                      <a:r>
                        <a:rPr sz="1500">
                          <a:solidFill>
                            <a:srgbClr val="1C1C1A"/>
                          </a:solidFill>
                          <a:latin typeface="Calibri"/>
                        </a:rPr>
                        <a:t>Random forest</a:t>
                      </a:r>
                    </a:p>
                  </a:txBody>
                  <a:tcPr>
                    <a:solidFill>
                      <a:srgbClr val="FFFFFF"/>
                    </a:solidFill>
                  </a:tcPr>
                </a:tc>
                <a:tc>
                  <a:txBody>
                    <a:bodyPr/>
                    <a:lstStyle/>
                    <a:p>
                      <a:r>
                        <a:rPr sz="1500">
                          <a:solidFill>
                            <a:srgbClr val="1C1C1A"/>
                          </a:solidFill>
                          <a:latin typeface="Calibri"/>
                        </a:rPr>
                        <a:t>0.55 [0.43, 0.68]</a:t>
                      </a:r>
                    </a:p>
                  </a:txBody>
                  <a:tcPr>
                    <a:solidFill>
                      <a:srgbClr val="FFFFFF"/>
                    </a:solidFill>
                  </a:tcPr>
                </a:tc>
                <a:tc>
                  <a:txBody>
                    <a:bodyPr/>
                    <a:lstStyle/>
                    <a:p>
                      <a:r>
                        <a:rPr sz="1500">
                          <a:solidFill>
                            <a:srgbClr val="1C1C1A"/>
                          </a:solidFill>
                          <a:latin typeface="Calibri"/>
                        </a:rPr>
                        <a:t>0.50</a:t>
                      </a:r>
                    </a:p>
                  </a:txBody>
                  <a:tcPr>
                    <a:solidFill>
                      <a:srgbClr val="FFFFFF"/>
                    </a:solidFill>
                  </a:tcPr>
                </a:tc>
                <a:tc>
                  <a:txBody>
                    <a:bodyPr/>
                    <a:lstStyle/>
                    <a:p>
                      <a:r>
                        <a:rPr sz="1500">
                          <a:solidFill>
                            <a:srgbClr val="1C1C1A"/>
                          </a:solidFill>
                          <a:latin typeface="Calibri"/>
                        </a:rPr>
                        <a:t>0.271</a:t>
                      </a:r>
                    </a:p>
                  </a:txBody>
                  <a:tcPr>
                    <a:solidFill>
                      <a:srgbClr val="FFFFFF"/>
                    </a:solidFill>
                  </a:tcPr>
                </a:tc>
                <a:tc>
                  <a:txBody>
                    <a:bodyPr/>
                    <a:lstStyle/>
                    <a:p>
                      <a:r>
                        <a:rPr sz="1500">
                          <a:solidFill>
                            <a:srgbClr val="1C1C1A"/>
                          </a:solidFill>
                          <a:latin typeface="Calibri"/>
                        </a:rPr>
                        <a:t>1.000</a:t>
                      </a:r>
                    </a:p>
                  </a:txBody>
                  <a:tcPr>
                    <a:solidFill>
                      <a:srgbClr val="FFFFFF"/>
                    </a:solidFill>
                  </a:tcPr>
                </a:tc>
              </a:tr>
            </a:tbl>
          </a:graphicData>
        </a:graphic>
      </p:graphicFrame>
      <p:sp>
        <p:nvSpPr>
          <p:cNvPr id="8" name="TextBox 7"/>
          <p:cNvSpPr txBox="1"/>
          <p:nvPr/>
        </p:nvSpPr>
        <p:spPr>
          <a:xfrm>
            <a:off x="548640" y="3977639"/>
            <a:ext cx="11094415" cy="2194560"/>
          </a:xfrm>
          <a:prstGeom prst="rect">
            <a:avLst/>
          </a:prstGeom>
          <a:noFill/>
        </p:spPr>
        <p:txBody>
          <a:bodyPr wrap="square" anchor="t" lIns="36576" rIns="36576">
            <a:spAutoFit/>
          </a:bodyPr>
          <a:lstStyle/>
          <a:p>
            <a:pPr algn="l" marL="274320" indent="-274320">
              <a:spcAft>
                <a:spcPts val="600"/>
              </a:spcAft>
              <a:buChar char="•"/>
            </a:pPr>
            <a:r>
              <a:rPr sz="1700" b="0">
                <a:solidFill>
                  <a:srgbClr val="1C1C1A"/>
                </a:solidFill>
                <a:latin typeface="Calibri"/>
              </a:rPr>
              <a:t>No model stays below 0.05 after the correction for 9 tests</a:t>
            </a:r>
          </a:p>
          <a:p>
            <a:pPr algn="l" marL="274320" indent="-274320">
              <a:spcAft>
                <a:spcPts val="600"/>
              </a:spcAft>
              <a:buChar char="•"/>
            </a:pPr>
            <a:r>
              <a:rPr sz="1700" b="0">
                <a:solidFill>
                  <a:srgbClr val="1C1C1A"/>
                </a:solidFill>
                <a:latin typeface="Calibri"/>
              </a:rPr>
              <a:t>1 of 9 p-values is below 0.05 before the correction. With 9 tests, about 0.45 lucky results are expected, so that is not evidence</a:t>
            </a:r>
          </a:p>
          <a:p>
            <a:pPr algn="l" marL="274320" indent="-274320">
              <a:spcAft>
                <a:spcPts val="600"/>
              </a:spcAft>
              <a:buChar char="•"/>
            </a:pPr>
            <a:r>
              <a:rPr sz="1700" b="0">
                <a:solidFill>
                  <a:srgbClr val="1C1C1A"/>
                </a:solidFill>
                <a:latin typeface="Calibri"/>
              </a:rPr>
              <a:t>The intervals are wide: 6 of the 9 model intervals include the chance level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The same result as a picture</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Dot = score · bar = 95% interval · line = chance · grey = baselines that ignore the audio · blue = our models</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9</a:t>
            </a:r>
          </a:p>
        </p:txBody>
      </p:sp>
      <p:pic>
        <p:nvPicPr>
          <p:cNvPr id="7" name="Picture 6" descr="fig_eval_balanced_accuracy.png"/>
          <p:cNvPicPr>
            <a:picLocks noChangeAspect="1"/>
          </p:cNvPicPr>
          <p:nvPr/>
        </p:nvPicPr>
        <p:blipFill>
          <a:blip r:embed="rId3"/>
          <a:stretch>
            <a:fillRect/>
          </a:stretch>
        </p:blipFill>
        <p:spPr>
          <a:xfrm>
            <a:off x="548640" y="1691640"/>
            <a:ext cx="11094415" cy="3182485"/>
          </a:xfrm>
          <a:prstGeom prst="rect">
            <a:avLst/>
          </a:prstGeom>
        </p:spPr>
      </p:pic>
      <p:sp>
        <p:nvSpPr>
          <p:cNvPr id="8" name="TextBox 7"/>
          <p:cNvSpPr txBox="1"/>
          <p:nvPr/>
        </p:nvSpPr>
        <p:spPr>
          <a:xfrm>
            <a:off x="548640" y="5057005"/>
            <a:ext cx="11094415" cy="1371600"/>
          </a:xfrm>
          <a:prstGeom prst="rect">
            <a:avLst/>
          </a:prstGeom>
          <a:noFill/>
        </p:spPr>
        <p:txBody>
          <a:bodyPr wrap="square" anchor="t" lIns="36576" rIns="36576">
            <a:spAutoFit/>
          </a:bodyPr>
          <a:lstStyle/>
          <a:p>
            <a:pPr algn="l" marL="274320" indent="-274320">
              <a:spcAft>
                <a:spcPts val="600"/>
              </a:spcAft>
              <a:buChar char="•"/>
            </a:pPr>
            <a:r>
              <a:rPr sz="1600" b="0">
                <a:solidFill>
                  <a:srgbClr val="1C1C1A"/>
                </a:solidFill>
                <a:latin typeface="Calibri"/>
              </a:rPr>
              <a:t>Names in the figure: arousal_3 = arousal in three groups · valence_2 = valence in two groups · arousal_2 = arousal in two groups</a:t>
            </a:r>
          </a:p>
          <a:p>
            <a:pPr algn="l" marL="274320" indent="-274320">
              <a:spcAft>
                <a:spcPts val="600"/>
              </a:spcAft>
              <a:buChar char="•"/>
            </a:pPr>
            <a:r>
              <a:rPr sz="1600" b="0">
                <a:solidFill>
                  <a:srgbClr val="1C1C1A"/>
                </a:solidFill>
                <a:latin typeface="Calibri"/>
              </a:rPr>
              <a:t>“Dummy” rows are the baselines: they answer without listening to the audio</a:t>
            </a:r>
          </a:p>
          <a:p>
            <a:pPr algn="l" marL="274320" indent="-274320">
              <a:spcAft>
                <a:spcPts val="600"/>
              </a:spcAft>
              <a:buChar char="•"/>
            </a:pPr>
            <a:r>
              <a:rPr sz="1600" b="0">
                <a:solidFill>
                  <a:srgbClr val="1C1C1A"/>
                </a:solidFill>
                <a:latin typeface="Calibri"/>
              </a:rPr>
              <a:t>6 of the 9 blue bars cross the chance 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Is it the voice, or just the word?</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The chosen word is linked to the feeling. This is called a lexical confound</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10</a:t>
            </a:r>
          </a:p>
        </p:txBody>
      </p:sp>
      <p:sp>
        <p:nvSpPr>
          <p:cNvPr id="7" name="TextBox 6"/>
          <p:cNvSpPr txBox="1"/>
          <p:nvPr/>
        </p:nvSpPr>
        <p:spPr>
          <a:xfrm>
            <a:off x="548640" y="1783080"/>
            <a:ext cx="6309360" cy="4389120"/>
          </a:xfrm>
          <a:prstGeom prst="rect">
            <a:avLst/>
          </a:prstGeom>
          <a:noFill/>
        </p:spPr>
        <p:txBody>
          <a:bodyPr wrap="square" anchor="t" lIns="36576" rIns="36576">
            <a:spAutoFit/>
          </a:bodyPr>
          <a:lstStyle/>
          <a:p>
            <a:pPr algn="l" marL="274320" indent="-274320">
              <a:spcAft>
                <a:spcPts val="600"/>
              </a:spcAft>
              <a:buChar char="•"/>
            </a:pPr>
            <a:r>
              <a:rPr sz="1700" b="0">
                <a:solidFill>
                  <a:srgbClr val="1C1C1A"/>
                </a:solidFill>
                <a:latin typeface="Calibri"/>
              </a:rPr>
              <a:t>By sound alone the computer tells “Kapoy” from the other words only weakly: balanced accuracy 0.69 (chance 0.50, p = 0.072, not significant)</a:t>
            </a:r>
          </a:p>
          <a:p>
            <a:pPr algn="l" marL="274320" indent="-274320">
              <a:spcAft>
                <a:spcPts val="600"/>
              </a:spcAft>
              <a:buChar char="•"/>
            </a:pPr>
            <a:r>
              <a:rPr sz="1700" b="0">
                <a:solidFill>
                  <a:srgbClr val="1C1C1A"/>
                </a:solidFill>
                <a:latin typeface="Calibri"/>
              </a:rPr>
              <a:t>Not pleasant: 13 of 15 Kapoy speakers, against 7 of 25 speakers of other words (Fisher test, p = 0.001)</a:t>
            </a:r>
          </a:p>
          <a:p>
            <a:pPr algn="l" marL="274320" indent="-274320">
              <a:spcAft>
                <a:spcPts val="600"/>
              </a:spcAft>
              <a:buChar char="•"/>
            </a:pPr>
            <a:r>
              <a:rPr sz="1700" b="0">
                <a:solidFill>
                  <a:srgbClr val="1C1C1A"/>
                </a:solidFill>
                <a:latin typeface="Calibri"/>
              </a:rPr>
              <a:t>The word and the feeling go together, so a model that picks up the word even partly could score above chance. With this data we cannot separate the two</a:t>
            </a:r>
          </a:p>
          <a:p>
            <a:pPr algn="l" marL="274320" indent="-274320">
              <a:spcAft>
                <a:spcPts val="600"/>
              </a:spcAft>
              <a:buChar char="•"/>
            </a:pPr>
            <a:r>
              <a:rPr sz="1700" b="0">
                <a:solidFill>
                  <a:srgbClr val="1C1C1A"/>
                </a:solidFill>
                <a:latin typeface="Calibri"/>
              </a:rPr>
              <a:t>Among Kapoy speakers alone, 0 of 12 links between voice and rating are significant after correction</a:t>
            </a:r>
          </a:p>
        </p:txBody>
      </p:sp>
      <p:sp>
        <p:nvSpPr>
          <p:cNvPr id="8" name="TextBox 7"/>
          <p:cNvSpPr txBox="1"/>
          <p:nvPr/>
        </p:nvSpPr>
        <p:spPr>
          <a:xfrm>
            <a:off x="7269480" y="1783080"/>
            <a:ext cx="4389120" cy="411480"/>
          </a:xfrm>
          <a:prstGeom prst="rect">
            <a:avLst/>
          </a:prstGeom>
          <a:noFill/>
        </p:spPr>
        <p:txBody>
          <a:bodyPr wrap="square" anchor="t" lIns="36576" rIns="36576">
            <a:spAutoFit/>
          </a:bodyPr>
          <a:lstStyle/>
          <a:p>
            <a:pPr algn="l">
              <a:spcAft>
                <a:spcPts val="800"/>
              </a:spcAft>
            </a:pPr>
            <a:r>
              <a:rPr sz="1400" b="0">
                <a:solidFill>
                  <a:srgbClr val="5A5A55"/>
                </a:solidFill>
                <a:latin typeface="Calibri"/>
              </a:rPr>
              <a:t>Number of participants, by word and feeling</a:t>
            </a:r>
          </a:p>
        </p:txBody>
      </p:sp>
      <p:graphicFrame>
        <p:nvGraphicFramePr>
          <p:cNvPr id="9" name="Table 8"/>
          <p:cNvGraphicFramePr>
            <a:graphicFrameLocks noGrp="1"/>
          </p:cNvGraphicFramePr>
          <p:nvPr/>
        </p:nvGraphicFramePr>
        <p:xfrm>
          <a:off x="7269480" y="2240280"/>
          <a:ext cx="4389120" cy="1508760"/>
        </p:xfrm>
        <a:graphic>
          <a:graphicData uri="http://schemas.openxmlformats.org/drawingml/2006/table">
            <a:tbl>
              <a:tblPr firstRow="1" bandRow="1">
                <a:tableStyleId>{5C22544A-7EE6-4342-B048-85BDC9FD1C3A}</a:tableStyleId>
              </a:tblPr>
              <a:tblGrid>
                <a:gridCol w="1188720"/>
                <a:gridCol w="1783080"/>
                <a:gridCol w="1417320"/>
              </a:tblGrid>
              <a:tr h="502920">
                <a:tc>
                  <a:txBody>
                    <a:bodyPr/>
                    <a:lstStyle/>
                    <a:p>
                      <a:r>
                        <a:rPr sz="1400" b="1">
                          <a:solidFill>
                            <a:srgbClr val="FFFFFF"/>
                          </a:solidFill>
                          <a:latin typeface="Calibri"/>
                        </a:rPr>
                        <a:t>Word</a:t>
                      </a:r>
                    </a:p>
                  </a:txBody>
                  <a:tcPr>
                    <a:solidFill>
                      <a:srgbClr val="2563C9"/>
                    </a:solidFill>
                  </a:tcPr>
                </a:tc>
                <a:tc>
                  <a:txBody>
                    <a:bodyPr/>
                    <a:lstStyle/>
                    <a:p>
                      <a:r>
                        <a:rPr sz="1400" b="1">
                          <a:solidFill>
                            <a:srgbClr val="FFFFFF"/>
                          </a:solidFill>
                          <a:latin typeface="Calibri"/>
                        </a:rPr>
                        <a:t>Not pleasant (1–3)</a:t>
                      </a:r>
                    </a:p>
                  </a:txBody>
                  <a:tcPr>
                    <a:solidFill>
                      <a:srgbClr val="2563C9"/>
                    </a:solidFill>
                  </a:tcPr>
                </a:tc>
                <a:tc>
                  <a:txBody>
                    <a:bodyPr/>
                    <a:lstStyle/>
                    <a:p>
                      <a:r>
                        <a:rPr sz="1400" b="1">
                          <a:solidFill>
                            <a:srgbClr val="FFFFFF"/>
                          </a:solidFill>
                          <a:latin typeface="Calibri"/>
                        </a:rPr>
                        <a:t>Pleasant (4–5)</a:t>
                      </a:r>
                    </a:p>
                  </a:txBody>
                  <a:tcPr>
                    <a:solidFill>
                      <a:srgbClr val="2563C9"/>
                    </a:solidFill>
                  </a:tcPr>
                </a:tc>
              </a:tr>
              <a:tr h="502920">
                <a:tc>
                  <a:txBody>
                    <a:bodyPr/>
                    <a:lstStyle/>
                    <a:p>
                      <a:r>
                        <a:rPr sz="1400">
                          <a:solidFill>
                            <a:srgbClr val="1C1C1A"/>
                          </a:solidFill>
                          <a:latin typeface="Calibri"/>
                        </a:rPr>
                        <a:t>Kapoy</a:t>
                      </a:r>
                    </a:p>
                  </a:txBody>
                  <a:tcPr>
                    <a:solidFill>
                      <a:srgbClr val="FFFFFF"/>
                    </a:solidFill>
                  </a:tcPr>
                </a:tc>
                <a:tc>
                  <a:txBody>
                    <a:bodyPr/>
                    <a:lstStyle/>
                    <a:p>
                      <a:r>
                        <a:rPr sz="1400">
                          <a:solidFill>
                            <a:srgbClr val="1C1C1A"/>
                          </a:solidFill>
                          <a:latin typeface="Calibri"/>
                        </a:rPr>
                        <a:t>13</a:t>
                      </a:r>
                    </a:p>
                  </a:txBody>
                  <a:tcPr>
                    <a:solidFill>
                      <a:srgbClr val="FFFFFF"/>
                    </a:solidFill>
                  </a:tcPr>
                </a:tc>
                <a:tc>
                  <a:txBody>
                    <a:bodyPr/>
                    <a:lstStyle/>
                    <a:p>
                      <a:r>
                        <a:rPr sz="1400">
                          <a:solidFill>
                            <a:srgbClr val="1C1C1A"/>
                          </a:solidFill>
                          <a:latin typeface="Calibri"/>
                        </a:rPr>
                        <a:t>2</a:t>
                      </a:r>
                    </a:p>
                  </a:txBody>
                  <a:tcPr>
                    <a:solidFill>
                      <a:srgbClr val="FFFFFF"/>
                    </a:solidFill>
                  </a:tcPr>
                </a:tc>
              </a:tr>
              <a:tr h="502920">
                <a:tc>
                  <a:txBody>
                    <a:bodyPr/>
                    <a:lstStyle/>
                    <a:p>
                      <a:r>
                        <a:rPr sz="1400">
                          <a:solidFill>
                            <a:srgbClr val="1C1C1A"/>
                          </a:solidFill>
                          <a:latin typeface="Calibri"/>
                        </a:rPr>
                        <a:t>other words</a:t>
                      </a:r>
                    </a:p>
                  </a:txBody>
                  <a:tcPr>
                    <a:solidFill>
                      <a:srgbClr val="F1F4FA"/>
                    </a:solidFill>
                  </a:tcPr>
                </a:tc>
                <a:tc>
                  <a:txBody>
                    <a:bodyPr/>
                    <a:lstStyle/>
                    <a:p>
                      <a:r>
                        <a:rPr sz="1400">
                          <a:solidFill>
                            <a:srgbClr val="1C1C1A"/>
                          </a:solidFill>
                          <a:latin typeface="Calibri"/>
                        </a:rPr>
                        <a:t>7</a:t>
                      </a:r>
                    </a:p>
                  </a:txBody>
                  <a:tcPr>
                    <a:solidFill>
                      <a:srgbClr val="F1F4FA"/>
                    </a:solidFill>
                  </a:tcPr>
                </a:tc>
                <a:tc>
                  <a:txBody>
                    <a:bodyPr/>
                    <a:lstStyle/>
                    <a:p>
                      <a:r>
                        <a:rPr sz="1400">
                          <a:solidFill>
                            <a:srgbClr val="1C1C1A"/>
                          </a:solidFill>
                          <a:latin typeface="Calibri"/>
                        </a:rPr>
                        <a:t>18</a:t>
                      </a:r>
                    </a:p>
                  </a:txBody>
                  <a:tcPr>
                    <a:solidFill>
                      <a:srgbClr val="F1F4F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Limits of this study</a:t>
            </a:r>
          </a:p>
        </p:txBody>
      </p:sp>
      <p:sp>
        <p:nvSpPr>
          <p:cNvPr id="3" name="TextBox 2"/>
          <p:cNvSpPr txBox="1"/>
          <p:nvPr/>
        </p:nvSpPr>
        <p:spPr>
          <a:xfrm>
            <a:off x="548640" y="987552"/>
            <a:ext cx="11094415" cy="457200"/>
          </a:xfrm>
          <a:prstGeom prst="rect">
            <a:avLst/>
          </a:prstGeom>
          <a:noFill/>
        </p:spPr>
        <p:txBody>
          <a:bodyPr wrap="square" anchor="t" lIns="36576" rIns="36576">
            <a:spAutoFit/>
          </a:bodyPr>
          <a:lstStyle/>
          <a:p>
            <a:pPr algn="l">
              <a:spcAft>
                <a:spcPts val="800"/>
              </a:spcAft>
            </a:pPr>
            <a:r>
              <a:rPr sz="1600" b="0">
                <a:solidFill>
                  <a:srgbClr val="5A5A55"/>
                </a:solidFill>
                <a:latin typeface="Calibri"/>
              </a:rPr>
              <a:t>Why we call the results preliminary</a:t>
            </a:r>
          </a:p>
        </p:txBody>
      </p:sp>
      <p:sp>
        <p:nvSpPr>
          <p:cNvPr id="4" name="Rectangle 3"/>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6" name="TextBox 5"/>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11</a:t>
            </a:r>
          </a:p>
        </p:txBody>
      </p:sp>
      <p:sp>
        <p:nvSpPr>
          <p:cNvPr id="7" name="TextBox 6"/>
          <p:cNvSpPr txBox="1"/>
          <p:nvPr/>
        </p:nvSpPr>
        <p:spPr>
          <a:xfrm>
            <a:off x="548640" y="1783080"/>
            <a:ext cx="11094415" cy="4480560"/>
          </a:xfrm>
          <a:prstGeom prst="rect">
            <a:avLst/>
          </a:prstGeom>
          <a:noFill/>
        </p:spPr>
        <p:txBody>
          <a:bodyPr wrap="square" anchor="t" lIns="36576" rIns="36576">
            <a:spAutoFit/>
          </a:bodyPr>
          <a:lstStyle/>
          <a:p>
            <a:pPr algn="l" marL="274320" indent="-274320">
              <a:spcAft>
                <a:spcPts val="600"/>
              </a:spcAft>
              <a:buChar char="•"/>
            </a:pPr>
            <a:r>
              <a:rPr sz="1800" b="0">
                <a:solidFill>
                  <a:srgbClr val="1C1C1A"/>
                </a:solidFill>
                <a:latin typeface="Calibri"/>
              </a:rPr>
              <a:t>Small sample: 40 participants</a:t>
            </a:r>
          </a:p>
          <a:p>
            <a:pPr algn="l" marL="594360" indent="-274320">
              <a:spcAft>
                <a:spcPts val="600"/>
              </a:spcAft>
              <a:buChar char="–"/>
            </a:pPr>
            <a:r>
              <a:rPr sz="1600" b="0">
                <a:solidFill>
                  <a:srgbClr val="1C1C1A"/>
                </a:solidFill>
                <a:latin typeface="Calibri"/>
              </a:rPr>
              <a:t>Only strong links (about 0.44 or more) can be found reliably. A moderate link of 0.3 needs about 90 participants</a:t>
            </a:r>
          </a:p>
          <a:p>
            <a:pPr algn="l" marL="274320" indent="-274320">
              <a:spcAft>
                <a:spcPts val="600"/>
              </a:spcAft>
              <a:buChar char="•"/>
            </a:pPr>
            <a:r>
              <a:rPr sz="1800" b="0">
                <a:solidFill>
                  <a:srgbClr val="1C1C1A"/>
                </a:solidFill>
                <a:latin typeface="Calibri"/>
              </a:rPr>
              <a:t>Audio: converted copies, not the original recordings. 9 could not be checked and 3 are edited or clipped</a:t>
            </a:r>
          </a:p>
          <a:p>
            <a:pPr algn="l" marL="274320" indent="-274320">
              <a:spcAft>
                <a:spcPts val="600"/>
              </a:spcAft>
              <a:buChar char="•"/>
            </a:pPr>
            <a:r>
              <a:rPr sz="1800" b="0">
                <a:solidFill>
                  <a:srgbClr val="1C1C1A"/>
                </a:solidFill>
                <a:latin typeface="Calibri"/>
              </a:rPr>
              <a:t>Noise: background voices in 16 of 40 recordings, made in a hallway right after class</a:t>
            </a:r>
          </a:p>
          <a:p>
            <a:pPr algn="l" marL="274320" indent="-274320">
              <a:spcAft>
                <a:spcPts val="600"/>
              </a:spcAft>
              <a:buChar char="•"/>
            </a:pPr>
            <a:r>
              <a:rPr sz="1800" b="0">
                <a:solidFill>
                  <a:srgbClr val="1C1C1A"/>
                </a:solidFill>
                <a:latin typeface="Calibri"/>
              </a:rPr>
              <a:t>Recording setting: 5 files come from recordings made with a different audio setting. 18 of 108 features differ before the correction and none after it (closest p = 0.053)</a:t>
            </a:r>
          </a:p>
          <a:p>
            <a:pPr algn="l" marL="274320" indent="-274320">
              <a:spcAft>
                <a:spcPts val="600"/>
              </a:spcAft>
              <a:buChar char="•"/>
            </a:pPr>
            <a:r>
              <a:rPr sz="1800" b="0">
                <a:solidFill>
                  <a:srgbClr val="1C1C1A"/>
                </a:solidFill>
                <a:latin typeface="Calibri"/>
              </a:rPr>
              <a:t>One word per person: we cannot separate a person's normal voice from their feeling</a:t>
            </a:r>
          </a:p>
          <a:p>
            <a:pPr algn="l" marL="274320" indent="-274320">
              <a:spcAft>
                <a:spcPts val="600"/>
              </a:spcAft>
              <a:buChar char="•"/>
            </a:pPr>
            <a:r>
              <a:rPr sz="1800" b="0">
                <a:solidFill>
                  <a:srgbClr val="1C1C1A"/>
                </a:solidFill>
                <a:latin typeface="Calibri"/>
              </a:rPr>
              <a:t>One context: one year level, one class activity and one session, so contexts cannot be compared</a:t>
            </a:r>
          </a:p>
          <a:p>
            <a:pPr algn="l" marL="274320" indent="-274320">
              <a:spcAft>
                <a:spcPts val="600"/>
              </a:spcAft>
              <a:buChar char="•"/>
            </a:pPr>
            <a:r>
              <a:rPr sz="1800" b="0">
                <a:solidFill>
                  <a:srgbClr val="1C1C1A"/>
                </a:solidFill>
                <a:latin typeface="Calibri"/>
              </a:rPr>
              <a:t>We measured links, not causes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Conclusion</a:t>
            </a:r>
          </a:p>
        </p:txBody>
      </p:sp>
      <p:sp>
        <p:nvSpPr>
          <p:cNvPr id="3" name="Rectangle 2"/>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5" name="TextBox 4"/>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12</a:t>
            </a:r>
          </a:p>
        </p:txBody>
      </p:sp>
      <p:sp>
        <p:nvSpPr>
          <p:cNvPr id="6" name="TextBox 5"/>
          <p:cNvSpPr txBox="1"/>
          <p:nvPr/>
        </p:nvSpPr>
        <p:spPr>
          <a:xfrm>
            <a:off x="548640" y="1828800"/>
            <a:ext cx="11094415" cy="1280160"/>
          </a:xfrm>
          <a:prstGeom prst="rect">
            <a:avLst/>
          </a:prstGeom>
          <a:noFill/>
        </p:spPr>
        <p:txBody>
          <a:bodyPr wrap="square" anchor="t" lIns="36576" rIns="36576">
            <a:spAutoFit/>
          </a:bodyPr>
          <a:lstStyle/>
          <a:p>
            <a:pPr algn="l">
              <a:spcAft>
                <a:spcPts val="800"/>
              </a:spcAft>
            </a:pPr>
            <a:r>
              <a:rPr sz="2600" b="1">
                <a:solidFill>
                  <a:srgbClr val="2563C9"/>
                </a:solidFill>
                <a:latin typeface="Calibri"/>
              </a:rPr>
              <a:t>Our data do not show that post-class feelings can be recognised from the voice.</a:t>
            </a:r>
          </a:p>
        </p:txBody>
      </p:sp>
      <p:sp>
        <p:nvSpPr>
          <p:cNvPr id="7" name="TextBox 6"/>
          <p:cNvSpPr txBox="1"/>
          <p:nvPr/>
        </p:nvSpPr>
        <p:spPr>
          <a:xfrm>
            <a:off x="548640" y="3200400"/>
            <a:ext cx="11094415" cy="2926080"/>
          </a:xfrm>
          <a:prstGeom prst="rect">
            <a:avLst/>
          </a:prstGeom>
          <a:noFill/>
        </p:spPr>
        <p:txBody>
          <a:bodyPr wrap="square" anchor="t" lIns="36576" rIns="36576">
            <a:spAutoFit/>
          </a:bodyPr>
          <a:lstStyle/>
          <a:p>
            <a:pPr algn="l" marL="274320" indent="-274320">
              <a:spcAft>
                <a:spcPts val="600"/>
              </a:spcAft>
              <a:buChar char="•"/>
            </a:pPr>
            <a:r>
              <a:rPr sz="2000" b="0">
                <a:solidFill>
                  <a:srgbClr val="1C1C1A"/>
                </a:solidFill>
                <a:latin typeface="Calibri"/>
              </a:rPr>
              <a:t>The pipeline is complete, tested and repeatable: new data can be analysed with one command</a:t>
            </a:r>
          </a:p>
          <a:p>
            <a:pPr algn="l" marL="274320" indent="-274320">
              <a:spcAft>
                <a:spcPts val="600"/>
              </a:spcAft>
              <a:buChar char="•"/>
            </a:pPr>
            <a:r>
              <a:rPr sz="2000" b="0">
                <a:solidFill>
                  <a:srgbClr val="1C1C1A"/>
                </a:solidFill>
                <a:latin typeface="Calibri"/>
              </a:rPr>
              <a:t>The chosen word is linked to the feeling, so a future study must control the word</a:t>
            </a:r>
          </a:p>
          <a:p>
            <a:pPr algn="l" marL="274320" indent="-274320">
              <a:spcAft>
                <a:spcPts val="600"/>
              </a:spcAft>
              <a:buChar char="•"/>
            </a:pPr>
            <a:r>
              <a:rPr sz="2000" b="0">
                <a:solidFill>
                  <a:srgbClr val="1C1C1A"/>
                </a:solidFill>
                <a:latin typeface="Calibri"/>
              </a:rPr>
              <a:t>The sample is too small: a real study needs about 90 participants</a:t>
            </a:r>
          </a:p>
          <a:p>
            <a:pPr algn="l" marL="274320" indent="-274320">
              <a:spcAft>
                <a:spcPts val="600"/>
              </a:spcAft>
              <a:buChar char="•"/>
            </a:pPr>
            <a:r>
              <a:rPr sz="2000" b="0">
                <a:solidFill>
                  <a:srgbClr val="1C1C1A"/>
                </a:solidFill>
                <a:latin typeface="Calibri"/>
              </a:rPr>
              <a:t>The closest result is valence in two groups: 0.70 against 0.50, p = 0.054 after correction. Without the 9 files we could not check, it is 0.63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36576" rIns="36576">
            <a:spAutoFit/>
          </a:bodyPr>
          <a:lstStyle/>
          <a:p>
            <a:pPr algn="l">
              <a:spcAft>
                <a:spcPts val="800"/>
              </a:spcAft>
            </a:pPr>
            <a:r>
              <a:rPr sz="3000" b="1">
                <a:solidFill>
                  <a:srgbClr val="1C1C1A"/>
                </a:solidFill>
                <a:latin typeface="Calibri"/>
              </a:rPr>
              <a:t>Next steps</a:t>
            </a:r>
          </a:p>
        </p:txBody>
      </p:sp>
      <p:sp>
        <p:nvSpPr>
          <p:cNvPr id="3" name="Rectangle 2"/>
          <p:cNvSpPr/>
          <p:nvPr/>
        </p:nvSpPr>
        <p:spPr>
          <a:xfrm>
            <a:off x="548640" y="1463040"/>
            <a:ext cx="11094415" cy="18288"/>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274320"/>
          </a:xfrm>
          <a:prstGeom prst="rect">
            <a:avLst/>
          </a:prstGeom>
          <a:noFill/>
        </p:spPr>
        <p:txBody>
          <a:bodyPr wrap="square" anchor="t" lIns="36576" rIns="36576">
            <a:spAutoFit/>
          </a:bodyPr>
          <a:lstStyle/>
          <a:p>
            <a:pPr algn="l">
              <a:spcAft>
                <a:spcPts val="800"/>
              </a:spcAft>
            </a:pPr>
            <a:r>
              <a:rPr sz="1000" b="0">
                <a:solidFill>
                  <a:srgbClr val="5A5A55"/>
                </a:solidFill>
                <a:latin typeface="Calibri"/>
              </a:rPr>
              <a:t>Group 3 · CS412 mini-project · every number comes from the analysis output files</a:t>
            </a:r>
          </a:p>
        </p:txBody>
      </p:sp>
      <p:sp>
        <p:nvSpPr>
          <p:cNvPr id="5" name="TextBox 4"/>
          <p:cNvSpPr txBox="1"/>
          <p:nvPr/>
        </p:nvSpPr>
        <p:spPr>
          <a:xfrm>
            <a:off x="10728655" y="6446520"/>
            <a:ext cx="914400" cy="274320"/>
          </a:xfrm>
          <a:prstGeom prst="rect">
            <a:avLst/>
          </a:prstGeom>
          <a:noFill/>
        </p:spPr>
        <p:txBody>
          <a:bodyPr wrap="square" anchor="t" lIns="36576" rIns="36576">
            <a:spAutoFit/>
          </a:bodyPr>
          <a:lstStyle/>
          <a:p>
            <a:pPr algn="r">
              <a:spcAft>
                <a:spcPts val="800"/>
              </a:spcAft>
            </a:pPr>
            <a:r>
              <a:rPr sz="1000" b="0">
                <a:solidFill>
                  <a:srgbClr val="5A5A55"/>
                </a:solidFill>
                <a:latin typeface="Calibri"/>
              </a:rPr>
              <a:t>13</a:t>
            </a:r>
          </a:p>
        </p:txBody>
      </p:sp>
      <p:sp>
        <p:nvSpPr>
          <p:cNvPr id="6" name="TextBox 5"/>
          <p:cNvSpPr txBox="1"/>
          <p:nvPr/>
        </p:nvSpPr>
        <p:spPr>
          <a:xfrm>
            <a:off x="548640" y="1783080"/>
            <a:ext cx="11094415" cy="4480560"/>
          </a:xfrm>
          <a:prstGeom prst="rect">
            <a:avLst/>
          </a:prstGeom>
          <a:noFill/>
        </p:spPr>
        <p:txBody>
          <a:bodyPr wrap="square" anchor="t" lIns="36576" rIns="36576">
            <a:spAutoFit/>
          </a:bodyPr>
          <a:lstStyle/>
          <a:p>
            <a:pPr algn="l" marL="274320" indent="-274320">
              <a:spcAft>
                <a:spcPts val="600"/>
              </a:spcAft>
              <a:buChar char="•"/>
            </a:pPr>
            <a:r>
              <a:rPr sz="2000" b="0">
                <a:solidFill>
                  <a:srgbClr val="1C1C1A"/>
                </a:solidFill>
                <a:latin typeface="Calibri"/>
              </a:rPr>
              <a:t>Complete the consent log from the signed forms</a:t>
            </a:r>
          </a:p>
          <a:p>
            <a:pPr algn="l" marL="274320" indent="-274320">
              <a:spcAft>
                <a:spcPts val="600"/>
              </a:spcAft>
              <a:buChar char="•"/>
            </a:pPr>
            <a:r>
              <a:rPr sz="2000" b="0">
                <a:solidFill>
                  <a:srgbClr val="1C1C1A"/>
                </a:solidFill>
                <a:latin typeface="Calibri"/>
              </a:rPr>
              <a:t>Two group members listen to every clip, without seeing the ratings, to check the words and where they start and end</a:t>
            </a:r>
          </a:p>
          <a:p>
            <a:pPr algn="l" marL="274320" indent="-274320">
              <a:spcAft>
                <a:spcPts val="600"/>
              </a:spcAft>
              <a:buChar char="•"/>
            </a:pPr>
            <a:r>
              <a:rPr sz="2000" b="0">
                <a:solidFill>
                  <a:srgbClr val="1C1C1A"/>
                </a:solidFill>
                <a:latin typeface="Calibri"/>
              </a:rPr>
              <a:t>Find the original recordings for the 9 files we could not check</a:t>
            </a:r>
          </a:p>
          <a:p>
            <a:pPr algn="l" marL="274320" indent="-274320">
              <a:spcAft>
                <a:spcPts val="600"/>
              </a:spcAft>
              <a:buChar char="•"/>
            </a:pPr>
            <a:r>
              <a:rPr sz="2000" b="0">
                <a:solidFill>
                  <a:srgbClr val="1C1C1A"/>
                </a:solidFill>
                <a:latin typeface="Calibri"/>
              </a:rPr>
              <a:t>Record more participants: one device, one setting, a quiet place, one take</a:t>
            </a:r>
          </a:p>
          <a:p>
            <a:pPr algn="l" marL="274320" indent="-274320">
              <a:spcAft>
                <a:spcPts val="600"/>
              </a:spcAft>
              <a:buChar char="•"/>
            </a:pPr>
            <a:r>
              <a:rPr sz="2000" b="0">
                <a:solidFill>
                  <a:srgbClr val="1C1C1A"/>
                </a:solidFill>
                <a:latin typeface="Calibri"/>
              </a:rPr>
              <a:t>Follow the analysis plan we wrote before seeing new data</a:t>
            </a:r>
          </a:p>
          <a:p>
            <a:pPr algn="l" marL="274320" indent="-274320">
              <a:spcAft>
                <a:spcPts val="600"/>
              </a:spcAft>
              <a:buChar char="•"/>
            </a:pPr>
            <a:r>
              <a:rPr sz="2000" b="0">
                <a:solidFill>
                  <a:srgbClr val="1C1C1A"/>
                </a:solidFill>
                <a:latin typeface="Calibri"/>
              </a:rPr>
              <a:t>Confirm the open protocol questions with our instructor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